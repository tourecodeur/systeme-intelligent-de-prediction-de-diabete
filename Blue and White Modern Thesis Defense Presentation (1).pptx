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Roboto Bold" panose="020B0604020202020204" charset="0"/>
      <p:regular r:id="rId19"/>
    </p:embeddedFont>
    <p:embeddedFont>
      <p:font typeface="Montserrat Heavy" panose="020B0604020202020204" charset="0"/>
      <p:regular r:id="rId20"/>
    </p:embeddedFont>
    <p:embeddedFont>
      <p:font typeface="Roboto" panose="020B0604020202020204" charset="0"/>
      <p:regular r:id="rId21"/>
    </p:embeddedFont>
    <p:embeddedFont>
      <p:font typeface="Montserrat Bold" panose="020B0604020202020204" charset="0"/>
      <p:regular r:id="rId22"/>
    </p:embeddedFont>
    <p:embeddedFont>
      <p:font typeface="Montserrat Semi-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69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package" Target="../embeddings/Feuille_de_calcul_Microsoft_Excel1.xlsx"/><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package" Target="../embeddings/Feuille_de_calcul_Microsoft_Excel2.xlsx"/><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png"/><Relationship Id="rId5" Type="http://schemas.openxmlformats.org/officeDocument/2006/relationships/package" Target="../embeddings/Feuille_de_calcul_Microsoft_Excel3.xlsx"/><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package" Target="../embeddings/Feuille_de_calcul_Microsoft_Excel4.xlsx"/><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1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jpeg"/><Relationship Id="rId4" Type="http://schemas.openxmlformats.org/officeDocument/2006/relationships/image" Target="../media/image3.sv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13960695" y="-490557"/>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1960763" y="1434530"/>
            <a:ext cx="7100070" cy="7100070"/>
            <a:chOff x="0" y="0"/>
            <a:chExt cx="812800" cy="812800"/>
          </a:xfrm>
        </p:grpSpPr>
        <p:sp>
          <p:nvSpPr>
            <p:cNvPr id="5" name="Freeform 5"/>
            <p:cNvSpPr/>
            <p:nvPr/>
          </p:nvSpPr>
          <p:spPr>
            <a:xfrm>
              <a:off x="5872" y="5872"/>
              <a:ext cx="801057" cy="801057"/>
            </a:xfrm>
            <a:custGeom>
              <a:avLst/>
              <a:gdLst/>
              <a:ahLst/>
              <a:cxnLst/>
              <a:rect l="l" t="t" r="r" b="b"/>
              <a:pathLst>
                <a:path w="801057" h="801057">
                  <a:moveTo>
                    <a:pt x="410551" y="4151"/>
                  </a:moveTo>
                  <a:lnTo>
                    <a:pt x="796905" y="390505"/>
                  </a:lnTo>
                  <a:cubicBezTo>
                    <a:pt x="799563" y="393163"/>
                    <a:pt x="801056" y="396768"/>
                    <a:pt x="801056" y="400528"/>
                  </a:cubicBezTo>
                  <a:cubicBezTo>
                    <a:pt x="801056" y="404288"/>
                    <a:pt x="799563" y="407893"/>
                    <a:pt x="796905" y="410551"/>
                  </a:cubicBezTo>
                  <a:lnTo>
                    <a:pt x="410551" y="796905"/>
                  </a:lnTo>
                  <a:cubicBezTo>
                    <a:pt x="407893" y="799563"/>
                    <a:pt x="404288" y="801056"/>
                    <a:pt x="400528" y="801056"/>
                  </a:cubicBezTo>
                  <a:cubicBezTo>
                    <a:pt x="396768" y="801056"/>
                    <a:pt x="393163" y="799563"/>
                    <a:pt x="390505" y="796905"/>
                  </a:cubicBezTo>
                  <a:lnTo>
                    <a:pt x="4151" y="410551"/>
                  </a:lnTo>
                  <a:cubicBezTo>
                    <a:pt x="1493" y="407893"/>
                    <a:pt x="0" y="404288"/>
                    <a:pt x="0" y="400528"/>
                  </a:cubicBezTo>
                  <a:cubicBezTo>
                    <a:pt x="0" y="396768"/>
                    <a:pt x="1493" y="393163"/>
                    <a:pt x="4151" y="390505"/>
                  </a:cubicBezTo>
                  <a:lnTo>
                    <a:pt x="390505" y="4151"/>
                  </a:lnTo>
                  <a:cubicBezTo>
                    <a:pt x="393163" y="1493"/>
                    <a:pt x="396768" y="0"/>
                    <a:pt x="400528" y="0"/>
                  </a:cubicBezTo>
                  <a:cubicBezTo>
                    <a:pt x="404288" y="0"/>
                    <a:pt x="407893" y="1493"/>
                    <a:pt x="410551" y="4151"/>
                  </a:cubicBezTo>
                  <a:close/>
                </a:path>
              </a:pathLst>
            </a:custGeom>
            <a:blipFill>
              <a:blip r:embed="rId5"/>
              <a:stretch>
                <a:fillRect l="-25136" r="-25136"/>
              </a:stretch>
            </a:blipFill>
            <a:ln w="104775" cap="sq">
              <a:solidFill>
                <a:srgbClr val="112E4D"/>
              </a:solidFill>
              <a:prstDash val="solid"/>
              <a:miter/>
            </a:ln>
          </p:spPr>
        </p:sp>
      </p:grpSp>
      <p:sp>
        <p:nvSpPr>
          <p:cNvPr id="6" name="TextBox 6"/>
          <p:cNvSpPr txBox="1"/>
          <p:nvPr/>
        </p:nvSpPr>
        <p:spPr>
          <a:xfrm>
            <a:off x="473425" y="1539305"/>
            <a:ext cx="12411364" cy="2789555"/>
          </a:xfrm>
          <a:prstGeom prst="rect">
            <a:avLst/>
          </a:prstGeom>
        </p:spPr>
        <p:txBody>
          <a:bodyPr lIns="0" tIns="0" rIns="0" bIns="0" rtlCol="0" anchor="t">
            <a:spAutoFit/>
          </a:bodyPr>
          <a:lstStyle/>
          <a:p>
            <a:pPr algn="l">
              <a:lnSpc>
                <a:spcPts val="7209"/>
              </a:lnSpc>
            </a:pPr>
            <a:r>
              <a:rPr lang="en-US" sz="6999" b="1">
                <a:solidFill>
                  <a:srgbClr val="112E4D"/>
                </a:solidFill>
                <a:latin typeface="Montserrat Heavy"/>
                <a:ea typeface="Montserrat Heavy"/>
                <a:cs typeface="Montserrat Heavy"/>
                <a:sym typeface="Montserrat Heavy"/>
              </a:rPr>
              <a:t>SYSTÈME INTELLIGENT DE PRÉDICTION DU RISQUE DE DIABÈTE</a:t>
            </a:r>
          </a:p>
        </p:txBody>
      </p:sp>
      <p:sp>
        <p:nvSpPr>
          <p:cNvPr id="7" name="TextBox 7"/>
          <p:cNvSpPr txBox="1"/>
          <p:nvPr/>
        </p:nvSpPr>
        <p:spPr>
          <a:xfrm>
            <a:off x="473425" y="5551995"/>
            <a:ext cx="10650946" cy="1261109"/>
          </a:xfrm>
          <a:prstGeom prst="rect">
            <a:avLst/>
          </a:prstGeom>
        </p:spPr>
        <p:txBody>
          <a:bodyPr lIns="0" tIns="0" rIns="0" bIns="0" rtlCol="0" anchor="t">
            <a:spAutoFit/>
          </a:bodyPr>
          <a:lstStyle/>
          <a:p>
            <a:pPr algn="l">
              <a:lnSpc>
                <a:spcPts val="5040"/>
              </a:lnSpc>
            </a:pPr>
            <a:r>
              <a:rPr lang="en-US" sz="3600">
                <a:solidFill>
                  <a:srgbClr val="112E4D"/>
                </a:solidFill>
                <a:latin typeface="Roboto"/>
                <a:ea typeface="Roboto"/>
                <a:cs typeface="Roboto"/>
                <a:sym typeface="Roboto"/>
              </a:rPr>
              <a:t>Macoumba Touré  macoumba.toure@unchk.edu.sn</a:t>
            </a:r>
          </a:p>
          <a:p>
            <a:pPr algn="l">
              <a:lnSpc>
                <a:spcPts val="5040"/>
              </a:lnSpc>
            </a:pPr>
            <a:r>
              <a:rPr lang="en-US" sz="3600">
                <a:solidFill>
                  <a:srgbClr val="112E4D"/>
                </a:solidFill>
                <a:latin typeface="Roboto"/>
                <a:ea typeface="Roboto"/>
                <a:cs typeface="Roboto"/>
                <a:sym typeface="Roboto"/>
              </a:rPr>
              <a:t>Jean Yves Sadio    jeanyves.sadio@unchk.edu.sn</a:t>
            </a:r>
          </a:p>
        </p:txBody>
      </p:sp>
      <p:sp>
        <p:nvSpPr>
          <p:cNvPr id="8" name="TextBox 8"/>
          <p:cNvSpPr txBox="1"/>
          <p:nvPr/>
        </p:nvSpPr>
        <p:spPr>
          <a:xfrm>
            <a:off x="473425" y="8194229"/>
            <a:ext cx="11067014" cy="658241"/>
          </a:xfrm>
          <a:prstGeom prst="rect">
            <a:avLst/>
          </a:prstGeom>
        </p:spPr>
        <p:txBody>
          <a:bodyPr lIns="0" tIns="0" rIns="0" bIns="0" rtlCol="0" anchor="t">
            <a:spAutoFit/>
          </a:bodyPr>
          <a:lstStyle/>
          <a:p>
            <a:pPr algn="l">
              <a:lnSpc>
                <a:spcPts val="5047"/>
              </a:lnSpc>
            </a:pPr>
            <a:r>
              <a:rPr lang="en-US" sz="4900" b="1">
                <a:solidFill>
                  <a:srgbClr val="112E4D"/>
                </a:solidFill>
                <a:latin typeface="Montserrat Semi-Bold"/>
                <a:ea typeface="Montserrat Semi-Bold"/>
                <a:cs typeface="Montserrat Semi-Bold"/>
                <a:sym typeface="Montserrat Semi-Bold"/>
              </a:rPr>
              <a:t>Tuteur : M. Abdourahmane Baldé</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15235229" y="-724357"/>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16835276" y="8173224"/>
            <a:ext cx="1364875" cy="1085076"/>
          </a:xfrm>
          <a:custGeom>
            <a:avLst/>
            <a:gdLst/>
            <a:ahLst/>
            <a:cxnLst/>
            <a:rect l="l" t="t" r="r" b="b"/>
            <a:pathLst>
              <a:path w="1364875" h="1085076">
                <a:moveTo>
                  <a:pt x="0" y="0"/>
                </a:moveTo>
                <a:lnTo>
                  <a:pt x="1364875" y="0"/>
                </a:lnTo>
                <a:lnTo>
                  <a:pt x="1364875" y="1085076"/>
                </a:lnTo>
                <a:lnTo>
                  <a:pt x="0" y="108507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TextBox 5"/>
          <p:cNvSpPr txBox="1"/>
          <p:nvPr/>
        </p:nvSpPr>
        <p:spPr>
          <a:xfrm>
            <a:off x="1028700" y="1369883"/>
            <a:ext cx="13125644" cy="995820"/>
          </a:xfrm>
          <a:prstGeom prst="rect">
            <a:avLst/>
          </a:prstGeom>
        </p:spPr>
        <p:txBody>
          <a:bodyPr lIns="0" tIns="0" rIns="0" bIns="0" rtlCol="0" anchor="t">
            <a:spAutoFit/>
          </a:bodyPr>
          <a:lstStyle/>
          <a:p>
            <a:pPr algn="l">
              <a:lnSpc>
                <a:spcPts val="7519"/>
              </a:lnSpc>
            </a:pPr>
            <a:r>
              <a:rPr lang="en-US" sz="7300" b="1">
                <a:solidFill>
                  <a:srgbClr val="112E4D"/>
                </a:solidFill>
                <a:latin typeface="Montserrat Heavy"/>
                <a:ea typeface="Montserrat Heavy"/>
                <a:cs typeface="Montserrat Heavy"/>
                <a:sym typeface="Montserrat Heavy"/>
              </a:rPr>
              <a:t>CONTEXTE</a:t>
            </a:r>
          </a:p>
        </p:txBody>
      </p:sp>
      <p:sp>
        <p:nvSpPr>
          <p:cNvPr id="6" name="TextBox 6"/>
          <p:cNvSpPr txBox="1"/>
          <p:nvPr/>
        </p:nvSpPr>
        <p:spPr>
          <a:xfrm>
            <a:off x="1028700" y="2750958"/>
            <a:ext cx="14206529" cy="5184141"/>
          </a:xfrm>
          <a:prstGeom prst="rect">
            <a:avLst/>
          </a:prstGeom>
        </p:spPr>
        <p:txBody>
          <a:bodyPr lIns="0" tIns="0" rIns="0" bIns="0" rtlCol="0" anchor="t">
            <a:spAutoFit/>
          </a:bodyPr>
          <a:lstStyle/>
          <a:p>
            <a:pPr algn="just">
              <a:lnSpc>
                <a:spcPts val="5199"/>
              </a:lnSpc>
            </a:pPr>
            <a:r>
              <a:rPr lang="en-US" sz="2599" b="1">
                <a:solidFill>
                  <a:srgbClr val="545454"/>
                </a:solidFill>
                <a:latin typeface="Montserrat Semi-Bold"/>
                <a:ea typeface="Montserrat Semi-Bold"/>
                <a:cs typeface="Montserrat Semi-Bold"/>
                <a:sym typeface="Montserrat Semi-Bold"/>
              </a:rPr>
              <a:t>les techniques d'apprentissage automatique (Machine Learning) offrent des perspectives prometteuses pour la prédiction du risque diabétique à partir de données cliniques.</a:t>
            </a:r>
          </a:p>
          <a:p>
            <a:pPr algn="just">
              <a:lnSpc>
                <a:spcPts val="5199"/>
              </a:lnSpc>
            </a:pPr>
            <a:r>
              <a:rPr lang="en-US" sz="2599" b="1">
                <a:solidFill>
                  <a:srgbClr val="545454"/>
                </a:solidFill>
                <a:latin typeface="Montserrat Semi-Bold"/>
                <a:ea typeface="Montserrat Semi-Bold"/>
                <a:cs typeface="Montserrat Semi-Bold"/>
                <a:sym typeface="Montserrat Semi-Bold"/>
              </a:rPr>
              <a:t>L'objectif principal est de développer un pipeline complet de Machine Learning permettant de prédire avec précision le risque de diabète à partir des variables cliniques du Pima Indians Diabetes Dataset. Six algorithmes ont été implémentés, évalués et comparés afin d'identifier le modèle le plus performant dans ce contexte médical.</a:t>
            </a:r>
          </a:p>
        </p:txBody>
      </p:sp>
      <p:sp>
        <p:nvSpPr>
          <p:cNvPr id="7" name="Freeform 7"/>
          <p:cNvSpPr/>
          <p:nvPr/>
        </p:nvSpPr>
        <p:spPr>
          <a:xfrm rot="8100000">
            <a:off x="-1958073" y="7170664"/>
            <a:ext cx="3550180" cy="6746186"/>
          </a:xfrm>
          <a:custGeom>
            <a:avLst/>
            <a:gdLst/>
            <a:ahLst/>
            <a:cxnLst/>
            <a:rect l="l" t="t" r="r" b="b"/>
            <a:pathLst>
              <a:path w="3550180" h="6746186">
                <a:moveTo>
                  <a:pt x="0" y="0"/>
                </a:moveTo>
                <a:lnTo>
                  <a:pt x="3550180" y="0"/>
                </a:lnTo>
                <a:lnTo>
                  <a:pt x="3550180" y="6746186"/>
                </a:lnTo>
                <a:lnTo>
                  <a:pt x="0" y="674618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15323077" y="-490557"/>
            <a:ext cx="5929845" cy="11268114"/>
          </a:xfrm>
          <a:custGeom>
            <a:avLst/>
            <a:gdLst/>
            <a:ahLst/>
            <a:cxnLst/>
            <a:rect l="l" t="t" r="r" b="b"/>
            <a:pathLst>
              <a:path w="5929845" h="11268114">
                <a:moveTo>
                  <a:pt x="0" y="0"/>
                </a:moveTo>
                <a:lnTo>
                  <a:pt x="5929846" y="0"/>
                </a:lnTo>
                <a:lnTo>
                  <a:pt x="5929846"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933458" y="863376"/>
            <a:ext cx="8943192"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DESCRIPTION DU DATASET - </a:t>
            </a:r>
          </a:p>
        </p:txBody>
      </p:sp>
      <p:sp>
        <p:nvSpPr>
          <p:cNvPr id="5" name="TextBox 5"/>
          <p:cNvSpPr txBox="1"/>
          <p:nvPr/>
        </p:nvSpPr>
        <p:spPr>
          <a:xfrm>
            <a:off x="895358" y="1873884"/>
            <a:ext cx="15110424" cy="2564766"/>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 Le Pima Indians Diabetes Dataset est un jeu de données de référence en Machine Learning médical, mis à disposition par le National Institute of Diabetes and Digestive and Kidney Diseases (NIDDK). Il porte sur des femmes d'origine amérindienne Pima âgées d'au moins 21 ans. Le dataset contient 768 observations et 9 variables :</a:t>
            </a:r>
          </a:p>
        </p:txBody>
      </p:sp>
      <p:sp>
        <p:nvSpPr>
          <p:cNvPr id="6" name="TextBox 6"/>
          <p:cNvSpPr txBox="1"/>
          <p:nvPr/>
        </p:nvSpPr>
        <p:spPr>
          <a:xfrm>
            <a:off x="895358" y="4817230"/>
            <a:ext cx="14427719" cy="4763389"/>
          </a:xfrm>
          <a:prstGeom prst="rect">
            <a:avLst/>
          </a:prstGeom>
        </p:spPr>
        <p:txBody>
          <a:bodyPr lIns="0" tIns="0" rIns="0" bIns="0" rtlCol="0" anchor="t">
            <a:spAutoFit/>
          </a:bodyPr>
          <a:lstStyle/>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Pregnancies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Glucose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BloodPressure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SkinThickness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·Insulin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BMI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DiabetesPedigreeFunction</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Age </a:t>
            </a:r>
          </a:p>
          <a:p>
            <a:pPr marL="561341" lvl="1" indent="-280670" algn="l">
              <a:lnSpc>
                <a:spcPts val="4238"/>
              </a:lnSpc>
              <a:buFont typeface="Arial"/>
              <a:buChar char="•"/>
            </a:pPr>
            <a:r>
              <a:rPr lang="en-US" sz="2600" b="1">
                <a:solidFill>
                  <a:srgbClr val="112E4D"/>
                </a:solidFill>
                <a:latin typeface="Montserrat Bold"/>
                <a:ea typeface="Montserrat Bold"/>
                <a:cs typeface="Montserrat Bold"/>
                <a:sym typeface="Montserrat Bold"/>
              </a:rPr>
              <a:t>Outcome (0/1)</a:t>
            </a:r>
          </a:p>
        </p:txBody>
      </p:sp>
      <p:sp>
        <p:nvSpPr>
          <p:cNvPr id="7" name="TextBox 7"/>
          <p:cNvSpPr txBox="1"/>
          <p:nvPr/>
        </p:nvSpPr>
        <p:spPr>
          <a:xfrm>
            <a:off x="9876650" y="802734"/>
            <a:ext cx="7192150" cy="615553"/>
          </a:xfrm>
          <a:prstGeom prst="rect">
            <a:avLst/>
          </a:prstGeom>
        </p:spPr>
        <p:txBody>
          <a:bodyPr wrap="square" lIns="0" tIns="0" rIns="0" bIns="0" rtlCol="0" anchor="t">
            <a:spAutoFit/>
          </a:bodyPr>
          <a:lstStyle/>
          <a:p>
            <a:pPr algn="ctr">
              <a:lnSpc>
                <a:spcPts val="4759"/>
              </a:lnSpc>
              <a:spcBef>
                <a:spcPct val="0"/>
              </a:spcBef>
            </a:pPr>
            <a:r>
              <a:rPr lang="en-US" sz="3399" b="1" dirty="0">
                <a:solidFill>
                  <a:srgbClr val="112E4D"/>
                </a:solidFill>
                <a:latin typeface="Montserrat Semi-Bold"/>
                <a:ea typeface="Montserrat Semi-Bold"/>
                <a:cs typeface="Montserrat Semi-Bold"/>
                <a:sym typeface="Montserrat Semi-Bold"/>
              </a:rPr>
              <a:t>Pima Indians Diabetes Dataset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037178" y="-490557"/>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028700" y="1114425"/>
            <a:ext cx="11427317" cy="735711"/>
          </a:xfrm>
          <a:prstGeom prst="rect">
            <a:avLst/>
          </a:prstGeom>
        </p:spPr>
        <p:txBody>
          <a:bodyPr lIns="0" tIns="0" rIns="0" bIns="0" rtlCol="0" anchor="t">
            <a:spAutoFit/>
          </a:bodyPr>
          <a:lstStyle/>
          <a:p>
            <a:pPr algn="l">
              <a:lnSpc>
                <a:spcPts val="5562"/>
              </a:lnSpc>
            </a:pPr>
            <a:r>
              <a:rPr lang="en-US" sz="5400" b="1">
                <a:solidFill>
                  <a:srgbClr val="112E4D"/>
                </a:solidFill>
                <a:latin typeface="Montserrat Heavy"/>
                <a:ea typeface="Montserrat Heavy"/>
                <a:cs typeface="Montserrat Heavy"/>
                <a:sym typeface="Montserrat Heavy"/>
              </a:rPr>
              <a:t>DESCRIPTION DES VARIABLES </a:t>
            </a:r>
          </a:p>
        </p:txBody>
      </p:sp>
      <p:graphicFrame>
        <p:nvGraphicFramePr>
          <p:cNvPr id="7" name="Tableau 6"/>
          <p:cNvGraphicFramePr>
            <a:graphicFrameLocks noGrp="1"/>
          </p:cNvGraphicFramePr>
          <p:nvPr>
            <p:extLst>
              <p:ext uri="{D42A27DB-BD31-4B8C-83A1-F6EECF244321}">
                <p14:modId xmlns:p14="http://schemas.microsoft.com/office/powerpoint/2010/main" val="521851291"/>
              </p:ext>
            </p:extLst>
          </p:nvPr>
        </p:nvGraphicFramePr>
        <p:xfrm>
          <a:off x="1058516" y="2552700"/>
          <a:ext cx="11971683" cy="6553200"/>
        </p:xfrm>
        <a:graphic>
          <a:graphicData uri="http://schemas.openxmlformats.org/drawingml/2006/table">
            <a:tbl>
              <a:tblPr>
                <a:tableStyleId>{35758FB7-9AC5-4552-8A53-C91805E547FA}</a:tableStyleId>
              </a:tblPr>
              <a:tblGrid>
                <a:gridCol w="3990561"/>
                <a:gridCol w="3990561"/>
                <a:gridCol w="3990561"/>
              </a:tblGrid>
              <a:tr h="655320">
                <a:tc>
                  <a:txBody>
                    <a:bodyPr/>
                    <a:lstStyle/>
                    <a:p>
                      <a:r>
                        <a:rPr lang="fr-FR" sz="1800" b="1" dirty="0">
                          <a:effectLst/>
                        </a:rPr>
                        <a:t>Variable</a:t>
                      </a:r>
                    </a:p>
                  </a:txBody>
                  <a:tcPr marL="59474" marR="59474" marT="29737" marB="29737" anchor="ctr"/>
                </a:tc>
                <a:tc>
                  <a:txBody>
                    <a:bodyPr/>
                    <a:lstStyle/>
                    <a:p>
                      <a:r>
                        <a:rPr lang="fr-FR" sz="1800" b="1" dirty="0">
                          <a:effectLst/>
                        </a:rPr>
                        <a:t>Description</a:t>
                      </a:r>
                    </a:p>
                  </a:txBody>
                  <a:tcPr marL="59474" marR="59474" marT="29737" marB="29737" anchor="ctr"/>
                </a:tc>
                <a:tc>
                  <a:txBody>
                    <a:bodyPr/>
                    <a:lstStyle/>
                    <a:p>
                      <a:r>
                        <a:rPr lang="fr-FR" sz="1800" b="1" dirty="0">
                          <a:effectLst/>
                        </a:rPr>
                        <a:t>Unité</a:t>
                      </a:r>
                    </a:p>
                  </a:txBody>
                  <a:tcPr marL="59474" marR="59474" marT="29737" marB="29737" anchor="ctr"/>
                </a:tc>
              </a:tr>
              <a:tr h="655320">
                <a:tc>
                  <a:txBody>
                    <a:bodyPr/>
                    <a:lstStyle/>
                    <a:p>
                      <a:r>
                        <a:rPr lang="fr-FR" sz="1800" dirty="0">
                          <a:effectLst/>
                        </a:rPr>
                        <a:t>Pregnancies</a:t>
                      </a:r>
                    </a:p>
                  </a:txBody>
                  <a:tcPr marL="59474" marR="59474" marT="29737" marB="29737" anchor="ctr"/>
                </a:tc>
                <a:tc>
                  <a:txBody>
                    <a:bodyPr/>
                    <a:lstStyle/>
                    <a:p>
                      <a:r>
                        <a:rPr lang="fr-FR" sz="1800">
                          <a:effectLst/>
                        </a:rPr>
                        <a:t>Nombre de grossesses</a:t>
                      </a:r>
                    </a:p>
                  </a:txBody>
                  <a:tcPr marL="59474" marR="59474" marT="29737" marB="29737" anchor="ctr"/>
                </a:tc>
                <a:tc>
                  <a:txBody>
                    <a:bodyPr/>
                    <a:lstStyle/>
                    <a:p>
                      <a:r>
                        <a:rPr lang="fr-FR" sz="1800" dirty="0">
                          <a:effectLst/>
                        </a:rPr>
                        <a:t>—</a:t>
                      </a:r>
                    </a:p>
                  </a:txBody>
                  <a:tcPr marL="59474" marR="59474" marT="29737" marB="29737" anchor="ctr"/>
                </a:tc>
              </a:tr>
              <a:tr h="655320">
                <a:tc>
                  <a:txBody>
                    <a:bodyPr/>
                    <a:lstStyle/>
                    <a:p>
                      <a:r>
                        <a:rPr lang="fr-FR" sz="1800" dirty="0">
                          <a:effectLst/>
                        </a:rPr>
                        <a:t>Glucose</a:t>
                      </a:r>
                    </a:p>
                  </a:txBody>
                  <a:tcPr marL="59474" marR="59474" marT="29737" marB="29737" anchor="ctr"/>
                </a:tc>
                <a:tc>
                  <a:txBody>
                    <a:bodyPr/>
                    <a:lstStyle/>
                    <a:p>
                      <a:r>
                        <a:rPr lang="fr-FR" sz="1800">
                          <a:effectLst/>
                        </a:rPr>
                        <a:t>Taux de glucose (OGTT)</a:t>
                      </a:r>
                    </a:p>
                  </a:txBody>
                  <a:tcPr marL="59474" marR="59474" marT="29737" marB="29737" anchor="ctr"/>
                </a:tc>
                <a:tc>
                  <a:txBody>
                    <a:bodyPr/>
                    <a:lstStyle/>
                    <a:p>
                      <a:r>
                        <a:rPr lang="fr-FR" sz="1800">
                          <a:effectLst/>
                        </a:rPr>
                        <a:t>mg/dL</a:t>
                      </a:r>
                    </a:p>
                  </a:txBody>
                  <a:tcPr marL="59474" marR="59474" marT="29737" marB="29737" anchor="ctr"/>
                </a:tc>
              </a:tr>
              <a:tr h="655320">
                <a:tc>
                  <a:txBody>
                    <a:bodyPr/>
                    <a:lstStyle/>
                    <a:p>
                      <a:r>
                        <a:rPr lang="fr-FR" sz="1800" dirty="0">
                          <a:effectLst/>
                        </a:rPr>
                        <a:t>BloodPressure</a:t>
                      </a:r>
                    </a:p>
                  </a:txBody>
                  <a:tcPr marL="59474" marR="59474" marT="29737" marB="29737" anchor="ctr"/>
                </a:tc>
                <a:tc>
                  <a:txBody>
                    <a:bodyPr/>
                    <a:lstStyle/>
                    <a:p>
                      <a:r>
                        <a:rPr lang="fr-FR" sz="1800">
                          <a:effectLst/>
                        </a:rPr>
                        <a:t>Pression artérielle diastolique</a:t>
                      </a:r>
                    </a:p>
                  </a:txBody>
                  <a:tcPr marL="59474" marR="59474" marT="29737" marB="29737" anchor="ctr"/>
                </a:tc>
                <a:tc>
                  <a:txBody>
                    <a:bodyPr/>
                    <a:lstStyle/>
                    <a:p>
                      <a:r>
                        <a:rPr lang="fr-FR" sz="1800">
                          <a:effectLst/>
                        </a:rPr>
                        <a:t>mmHg</a:t>
                      </a:r>
                    </a:p>
                  </a:txBody>
                  <a:tcPr marL="59474" marR="59474" marT="29737" marB="29737" anchor="ctr"/>
                </a:tc>
              </a:tr>
              <a:tr h="655320">
                <a:tc>
                  <a:txBody>
                    <a:bodyPr/>
                    <a:lstStyle/>
                    <a:p>
                      <a:r>
                        <a:rPr lang="fr-FR" sz="1800" dirty="0">
                          <a:effectLst/>
                        </a:rPr>
                        <a:t>SkinThickness</a:t>
                      </a:r>
                    </a:p>
                  </a:txBody>
                  <a:tcPr marL="59474" marR="59474" marT="29737" marB="29737" anchor="ctr"/>
                </a:tc>
                <a:tc>
                  <a:txBody>
                    <a:bodyPr/>
                    <a:lstStyle/>
                    <a:p>
                      <a:r>
                        <a:rPr lang="fr-FR" sz="1800">
                          <a:effectLst/>
                        </a:rPr>
                        <a:t>Épaisseur pli cutané tricipital</a:t>
                      </a:r>
                    </a:p>
                  </a:txBody>
                  <a:tcPr marL="59474" marR="59474" marT="29737" marB="29737" anchor="ctr"/>
                </a:tc>
                <a:tc>
                  <a:txBody>
                    <a:bodyPr/>
                    <a:lstStyle/>
                    <a:p>
                      <a:r>
                        <a:rPr lang="fr-FR" sz="1800">
                          <a:effectLst/>
                        </a:rPr>
                        <a:t>mm</a:t>
                      </a:r>
                    </a:p>
                  </a:txBody>
                  <a:tcPr marL="59474" marR="59474" marT="29737" marB="29737" anchor="ctr"/>
                </a:tc>
              </a:tr>
              <a:tr h="655320">
                <a:tc>
                  <a:txBody>
                    <a:bodyPr/>
                    <a:lstStyle/>
                    <a:p>
                      <a:r>
                        <a:rPr lang="fr-FR" sz="1800" dirty="0">
                          <a:effectLst/>
                        </a:rPr>
                        <a:t>Insulin</a:t>
                      </a:r>
                    </a:p>
                  </a:txBody>
                  <a:tcPr marL="59474" marR="59474" marT="29737" marB="29737" anchor="ctr"/>
                </a:tc>
                <a:tc>
                  <a:txBody>
                    <a:bodyPr/>
                    <a:lstStyle/>
                    <a:p>
                      <a:r>
                        <a:rPr lang="fr-FR" sz="1800">
                          <a:effectLst/>
                        </a:rPr>
                        <a:t>Taux d'insuline sérique (2h)</a:t>
                      </a:r>
                    </a:p>
                  </a:txBody>
                  <a:tcPr marL="59474" marR="59474" marT="29737" marB="29737" anchor="ctr"/>
                </a:tc>
                <a:tc>
                  <a:txBody>
                    <a:bodyPr/>
                    <a:lstStyle/>
                    <a:p>
                      <a:r>
                        <a:rPr lang="fr-FR" sz="1800">
                          <a:effectLst/>
                        </a:rPr>
                        <a:t>µU/mL</a:t>
                      </a:r>
                    </a:p>
                  </a:txBody>
                  <a:tcPr marL="59474" marR="59474" marT="29737" marB="29737" anchor="ctr"/>
                </a:tc>
              </a:tr>
              <a:tr h="655320">
                <a:tc>
                  <a:txBody>
                    <a:bodyPr/>
                    <a:lstStyle/>
                    <a:p>
                      <a:r>
                        <a:rPr lang="fr-FR" sz="1800" dirty="0">
                          <a:effectLst/>
                        </a:rPr>
                        <a:t>BMI</a:t>
                      </a:r>
                    </a:p>
                  </a:txBody>
                  <a:tcPr marL="59474" marR="59474" marT="29737" marB="29737" anchor="ctr"/>
                </a:tc>
                <a:tc>
                  <a:txBody>
                    <a:bodyPr/>
                    <a:lstStyle/>
                    <a:p>
                      <a:r>
                        <a:rPr lang="fr-FR" sz="1800">
                          <a:effectLst/>
                        </a:rPr>
                        <a:t>Indice de masse corporelle</a:t>
                      </a:r>
                    </a:p>
                  </a:txBody>
                  <a:tcPr marL="59474" marR="59474" marT="29737" marB="29737" anchor="ctr"/>
                </a:tc>
                <a:tc>
                  <a:txBody>
                    <a:bodyPr/>
                    <a:lstStyle/>
                    <a:p>
                      <a:r>
                        <a:rPr lang="fr-FR" sz="1800">
                          <a:effectLst/>
                        </a:rPr>
                        <a:t>kg/m²</a:t>
                      </a:r>
                    </a:p>
                  </a:txBody>
                  <a:tcPr marL="59474" marR="59474" marT="29737" marB="29737" anchor="ctr"/>
                </a:tc>
              </a:tr>
              <a:tr h="655320">
                <a:tc>
                  <a:txBody>
                    <a:bodyPr/>
                    <a:lstStyle/>
                    <a:p>
                      <a:r>
                        <a:rPr lang="fr-FR" sz="1800" dirty="0">
                          <a:effectLst/>
                        </a:rPr>
                        <a:t>DiabetesPedigreeFunction</a:t>
                      </a:r>
                    </a:p>
                  </a:txBody>
                  <a:tcPr marL="59474" marR="59474" marT="29737" marB="29737" anchor="ctr"/>
                </a:tc>
                <a:tc>
                  <a:txBody>
                    <a:bodyPr/>
                    <a:lstStyle/>
                    <a:p>
                      <a:r>
                        <a:rPr lang="fr-FR" sz="1800">
                          <a:effectLst/>
                        </a:rPr>
                        <a:t>Facteur héréditaire</a:t>
                      </a:r>
                    </a:p>
                  </a:txBody>
                  <a:tcPr marL="59474" marR="59474" marT="29737" marB="29737" anchor="ctr"/>
                </a:tc>
                <a:tc>
                  <a:txBody>
                    <a:bodyPr/>
                    <a:lstStyle/>
                    <a:p>
                      <a:r>
                        <a:rPr lang="fr-FR" sz="1800">
                          <a:effectLst/>
                        </a:rPr>
                        <a:t>—</a:t>
                      </a:r>
                    </a:p>
                  </a:txBody>
                  <a:tcPr marL="59474" marR="59474" marT="29737" marB="29737" anchor="ctr"/>
                </a:tc>
              </a:tr>
              <a:tr h="655320">
                <a:tc>
                  <a:txBody>
                    <a:bodyPr/>
                    <a:lstStyle/>
                    <a:p>
                      <a:r>
                        <a:rPr lang="fr-FR" sz="1800" dirty="0">
                          <a:effectLst/>
                        </a:rPr>
                        <a:t>Age</a:t>
                      </a:r>
                    </a:p>
                  </a:txBody>
                  <a:tcPr marL="59474" marR="59474" marT="29737" marB="29737" anchor="ctr"/>
                </a:tc>
                <a:tc>
                  <a:txBody>
                    <a:bodyPr/>
                    <a:lstStyle/>
                    <a:p>
                      <a:r>
                        <a:rPr lang="fr-FR" sz="1800">
                          <a:effectLst/>
                        </a:rPr>
                        <a:t>Âge</a:t>
                      </a:r>
                    </a:p>
                  </a:txBody>
                  <a:tcPr marL="59474" marR="59474" marT="29737" marB="29737" anchor="ctr"/>
                </a:tc>
                <a:tc>
                  <a:txBody>
                    <a:bodyPr/>
                    <a:lstStyle/>
                    <a:p>
                      <a:r>
                        <a:rPr lang="fr-FR" sz="1800">
                          <a:effectLst/>
                        </a:rPr>
                        <a:t>années</a:t>
                      </a:r>
                    </a:p>
                  </a:txBody>
                  <a:tcPr marL="59474" marR="59474" marT="29737" marB="29737" anchor="ctr"/>
                </a:tc>
              </a:tr>
              <a:tr h="655320">
                <a:tc>
                  <a:txBody>
                    <a:bodyPr/>
                    <a:lstStyle/>
                    <a:p>
                      <a:r>
                        <a:rPr lang="fr-FR" sz="1800" dirty="0">
                          <a:effectLst/>
                        </a:rPr>
                        <a:t>Outcome</a:t>
                      </a:r>
                      <a:endParaRPr lang="fr-FR" sz="1800" b="1" dirty="0">
                        <a:effectLst/>
                      </a:endParaRPr>
                    </a:p>
                  </a:txBody>
                  <a:tcPr marL="59474" marR="59474" marT="29737" marB="29737" anchor="ctr"/>
                </a:tc>
                <a:tc>
                  <a:txBody>
                    <a:bodyPr/>
                    <a:lstStyle/>
                    <a:p>
                      <a:r>
                        <a:rPr lang="fr-FR" sz="1800" dirty="0">
                          <a:effectLst/>
                        </a:rPr>
                        <a:t>0 = non-diabétique / 1 = diabétique</a:t>
                      </a:r>
                      <a:endParaRPr lang="fr-FR" sz="1800" b="1" dirty="0">
                        <a:effectLst/>
                      </a:endParaRPr>
                    </a:p>
                  </a:txBody>
                  <a:tcPr marL="59474" marR="59474" marT="29737" marB="29737" anchor="ctr"/>
                </a:tc>
                <a:tc>
                  <a:txBody>
                    <a:bodyPr/>
                    <a:lstStyle/>
                    <a:p>
                      <a:r>
                        <a:rPr lang="fr-FR" sz="1800" dirty="0">
                          <a:effectLst/>
                        </a:rPr>
                        <a:t>—</a:t>
                      </a:r>
                    </a:p>
                  </a:txBody>
                  <a:tcPr marL="59474" marR="59474" marT="29737" marB="29737" anchor="ctr"/>
                </a:tc>
              </a:tr>
            </a:tbl>
          </a:graphicData>
        </a:graphic>
      </p:graphicFrame>
      <p:sp>
        <p:nvSpPr>
          <p:cNvPr id="8" name="Rectangle 2"/>
          <p:cNvSpPr>
            <a:spLocks noChangeArrowheads="1"/>
          </p:cNvSpPr>
          <p:nvPr/>
        </p:nvSpPr>
        <p:spPr bwMode="auto">
          <a:xfrm>
            <a:off x="1058318" y="2552699"/>
            <a:ext cx="2736469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aphicFrame>
        <p:nvGraphicFramePr>
          <p:cNvPr id="3" name="Object 3"/>
          <p:cNvGraphicFramePr/>
          <p:nvPr/>
        </p:nvGraphicFramePr>
        <p:xfrm>
          <a:off x="11329989" y="3029617"/>
          <a:ext cx="5657850" cy="5657850"/>
        </p:xfrm>
        <a:graphic>
          <a:graphicData uri="http://schemas.openxmlformats.org/presentationml/2006/ole">
            <mc:AlternateContent xmlns:mc="http://schemas.openxmlformats.org/markup-compatibility/2006">
              <mc:Choice xmlns:v="urn:schemas-microsoft-com:vml" Requires="v">
                <p:oleObj spid="_x0000_s2051" name="Worksheet" r:id="rId5" imgW="6781800" imgH="6781800" progId="Excel.Sheet.12">
                  <p:embed/>
                </p:oleObj>
              </mc:Choice>
              <mc:Fallback>
                <p:oleObj name="Worksheet" r:id="rId5" imgW="6781800" imgH="6781800" progId="Excel.Sheet.12">
                  <p:embed/>
                  <p:pic>
                    <p:nvPicPr>
                      <p:cNvPr id="0" name=""/>
                      <p:cNvPicPr/>
                      <p:nvPr/>
                    </p:nvPicPr>
                    <p:blipFill>
                      <a:blip r:embed="rId6"/>
                      <a:stretch>
                        <a:fillRect/>
                      </a:stretch>
                    </p:blipFill>
                    <p:spPr>
                      <a:xfrm>
                        <a:off x="11329989" y="3029617"/>
                        <a:ext cx="5657850" cy="5657850"/>
                      </a:xfrm>
                      <a:prstGeom prst="rect">
                        <a:avLst/>
                      </a:prstGeom>
                    </p:spPr>
                  </p:pic>
                </p:oleObj>
              </mc:Fallback>
            </mc:AlternateContent>
          </a:graphicData>
        </a:graphic>
      </p:graphicFrame>
      <p:sp>
        <p:nvSpPr>
          <p:cNvPr id="4" name="TextBox 4"/>
          <p:cNvSpPr txBox="1"/>
          <p:nvPr/>
        </p:nvSpPr>
        <p:spPr>
          <a:xfrm>
            <a:off x="904875" y="1162050"/>
            <a:ext cx="14846642"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DÉSÉQUILIBRE DES CLASSES &amp; CORRÉLATIONS</a:t>
            </a:r>
          </a:p>
        </p:txBody>
      </p:sp>
      <p:sp>
        <p:nvSpPr>
          <p:cNvPr id="5" name="TextBox 5"/>
          <p:cNvSpPr txBox="1"/>
          <p:nvPr/>
        </p:nvSpPr>
        <p:spPr>
          <a:xfrm>
            <a:off x="904875" y="2032384"/>
            <a:ext cx="9674574" cy="7165341"/>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Distribution réelle :</a:t>
            </a:r>
          </a:p>
          <a:p>
            <a:pPr marL="561339" lvl="1" indent="-280669" algn="just">
              <a:lnSpc>
                <a:spcPts val="5199"/>
              </a:lnSpc>
              <a:buFont typeface="Arial"/>
              <a:buChar char="•"/>
            </a:pPr>
            <a:r>
              <a:rPr lang="en-US" sz="2599" b="1">
                <a:solidFill>
                  <a:srgbClr val="545454"/>
                </a:solidFill>
                <a:latin typeface="Roboto Bold"/>
                <a:ea typeface="Roboto Bold"/>
                <a:cs typeface="Roboto Bold"/>
                <a:sym typeface="Roboto Bold"/>
              </a:rPr>
              <a:t>500 non-diabétiques → 65,1%</a:t>
            </a:r>
          </a:p>
          <a:p>
            <a:pPr marL="561339" lvl="1" indent="-280669" algn="just">
              <a:lnSpc>
                <a:spcPts val="5199"/>
              </a:lnSpc>
              <a:buFont typeface="Arial"/>
              <a:buChar char="•"/>
            </a:pPr>
            <a:r>
              <a:rPr lang="en-US" sz="2599" b="1">
                <a:solidFill>
                  <a:srgbClr val="545454"/>
                </a:solidFill>
                <a:latin typeface="Roboto Bold"/>
                <a:ea typeface="Roboto Bold"/>
                <a:cs typeface="Roboto Bold"/>
                <a:sym typeface="Roboto Bold"/>
              </a:rPr>
              <a:t>268 diabétiques → 34,9%</a:t>
            </a:r>
          </a:p>
          <a:p>
            <a:pPr marL="561339" lvl="1" indent="-280669" algn="just">
              <a:lnSpc>
                <a:spcPts val="5199"/>
              </a:lnSpc>
              <a:buFont typeface="Arial"/>
              <a:buChar char="•"/>
            </a:pPr>
            <a:r>
              <a:rPr lang="en-US" sz="2599" b="1">
                <a:solidFill>
                  <a:srgbClr val="545454"/>
                </a:solidFill>
                <a:latin typeface="Roboto Bold"/>
                <a:ea typeface="Roboto Bold"/>
                <a:cs typeface="Roboto Bold"/>
                <a:sym typeface="Roboto Bold"/>
              </a:rPr>
              <a:t>Ratio : ~1,9:1 → déséquilibre modéré</a:t>
            </a:r>
          </a:p>
          <a:p>
            <a:pPr algn="just">
              <a:lnSpc>
                <a:spcPts val="5199"/>
              </a:lnSpc>
            </a:pPr>
            <a:r>
              <a:rPr lang="en-US" sz="2599" b="1">
                <a:solidFill>
                  <a:srgbClr val="545454"/>
                </a:solidFill>
                <a:latin typeface="Roboto Bold"/>
                <a:ea typeface="Roboto Bold"/>
                <a:cs typeface="Roboto Bold"/>
                <a:sym typeface="Roboto Bold"/>
              </a:rPr>
              <a:t>Corrélations avec Outcome (calcul NumPy) — ordre réel du notebook :</a:t>
            </a:r>
          </a:p>
          <a:p>
            <a:pPr algn="just">
              <a:lnSpc>
                <a:spcPts val="5199"/>
              </a:lnSpc>
            </a:pPr>
            <a:r>
              <a:rPr lang="en-US" sz="2599" b="1">
                <a:solidFill>
                  <a:srgbClr val="545454"/>
                </a:solidFill>
                <a:latin typeface="Roboto Bold"/>
                <a:ea typeface="Roboto Bold"/>
                <a:cs typeface="Roboto Bold"/>
                <a:sym typeface="Roboto Bold"/>
              </a:rPr>
              <a:t>→ Glucose est de loin la variable la plus corrélée avec le diagnostic de diabète.</a:t>
            </a:r>
          </a:p>
          <a:p>
            <a:pPr algn="just">
              <a:lnSpc>
                <a:spcPts val="5199"/>
              </a:lnSpc>
            </a:pPr>
            <a:r>
              <a:rPr lang="en-US" sz="2599" b="1">
                <a:solidFill>
                  <a:srgbClr val="545454"/>
                </a:solidFill>
                <a:latin typeface="Roboto Bold"/>
                <a:ea typeface="Roboto Bold"/>
                <a:cs typeface="Roboto Bold"/>
                <a:sym typeface="Roboto Bold"/>
              </a:rPr>
              <a:t>Ce déséquilibre, bien que modéré, justifie l'utilisation de métriques complémentaires à l'Accuracy (Recall, F1-score) et l'utilisation d'un split stratifié lors de la division train/test.</a:t>
            </a:r>
          </a:p>
        </p:txBody>
      </p:sp>
      <p:sp>
        <p:nvSpPr>
          <p:cNvPr id="6" name="Freeform 6"/>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037178" y="-490557"/>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000125" y="939075"/>
            <a:ext cx="11427317" cy="735711"/>
          </a:xfrm>
          <a:prstGeom prst="rect">
            <a:avLst/>
          </a:prstGeom>
        </p:spPr>
        <p:txBody>
          <a:bodyPr lIns="0" tIns="0" rIns="0" bIns="0" rtlCol="0" anchor="t">
            <a:spAutoFit/>
          </a:bodyPr>
          <a:lstStyle/>
          <a:p>
            <a:pPr algn="l">
              <a:lnSpc>
                <a:spcPts val="5562"/>
              </a:lnSpc>
            </a:pPr>
            <a:r>
              <a:rPr lang="en-US" sz="5400" b="1">
                <a:solidFill>
                  <a:srgbClr val="112E4D"/>
                </a:solidFill>
                <a:latin typeface="Montserrat Heavy"/>
                <a:ea typeface="Montserrat Heavy"/>
                <a:cs typeface="Montserrat Heavy"/>
                <a:sym typeface="Montserrat Heavy"/>
              </a:rPr>
              <a:t>PIPELINE MÉTHODOLOGIQUE</a:t>
            </a:r>
          </a:p>
        </p:txBody>
      </p:sp>
      <p:sp>
        <p:nvSpPr>
          <p:cNvPr id="4" name="TextBox 4"/>
          <p:cNvSpPr txBox="1"/>
          <p:nvPr/>
        </p:nvSpPr>
        <p:spPr>
          <a:xfrm>
            <a:off x="1028700" y="2616634"/>
            <a:ext cx="12739805" cy="7264553"/>
          </a:xfrm>
          <a:prstGeom prst="rect">
            <a:avLst/>
          </a:prstGeom>
        </p:spPr>
        <p:txBody>
          <a:bodyPr lIns="0" tIns="0" rIns="0" bIns="0" rtlCol="0" anchor="t">
            <a:spAutoFit/>
          </a:bodyPr>
          <a:lstStyle/>
          <a:p>
            <a:pPr algn="just">
              <a:lnSpc>
                <a:spcPts val="4384"/>
              </a:lnSpc>
            </a:pPr>
            <a:r>
              <a:rPr lang="en-US" sz="2192" b="1" dirty="0">
                <a:solidFill>
                  <a:srgbClr val="545454"/>
                </a:solidFill>
                <a:latin typeface="Roboto Bold"/>
                <a:ea typeface="Roboto Bold"/>
                <a:cs typeface="Roboto Bold"/>
                <a:sym typeface="Roboto Bold"/>
              </a:rPr>
              <a:t>[1] </a:t>
            </a:r>
            <a:r>
              <a:rPr lang="en-US" sz="2192" b="1" dirty="0" err="1">
                <a:solidFill>
                  <a:srgbClr val="545454"/>
                </a:solidFill>
                <a:latin typeface="Roboto Bold"/>
                <a:ea typeface="Roboto Bold"/>
                <a:cs typeface="Roboto Bold"/>
                <a:sym typeface="Roboto Bold"/>
              </a:rPr>
              <a:t>Chargement</a:t>
            </a:r>
            <a:r>
              <a:rPr lang="en-US" sz="2192" b="1" dirty="0">
                <a:solidFill>
                  <a:srgbClr val="545454"/>
                </a:solidFill>
                <a:latin typeface="Roboto Bold"/>
                <a:ea typeface="Roboto Bold"/>
                <a:cs typeface="Roboto Bold"/>
                <a:sym typeface="Roboto Bold"/>
              </a:rPr>
              <a:t> &amp; inspection</a:t>
            </a: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[2] </a:t>
            </a:r>
            <a:r>
              <a:rPr lang="en-US" sz="2192" b="1" dirty="0" err="1">
                <a:solidFill>
                  <a:srgbClr val="545454"/>
                </a:solidFill>
                <a:latin typeface="Roboto Bold"/>
                <a:ea typeface="Roboto Bold"/>
                <a:cs typeface="Roboto Bold"/>
                <a:sym typeface="Roboto Bold"/>
              </a:rPr>
              <a:t>Analyse</a:t>
            </a:r>
            <a:r>
              <a:rPr lang="en-US" sz="2192" b="1" dirty="0">
                <a:solidFill>
                  <a:srgbClr val="545454"/>
                </a:solidFill>
                <a:latin typeface="Roboto Bold"/>
                <a:ea typeface="Roboto Bold"/>
                <a:cs typeface="Roboto Bold"/>
                <a:sym typeface="Roboto Bold"/>
              </a:rPr>
              <a:t> </a:t>
            </a:r>
            <a:r>
              <a:rPr lang="en-US" sz="2192" b="1" dirty="0" err="1">
                <a:solidFill>
                  <a:srgbClr val="545454"/>
                </a:solidFill>
                <a:latin typeface="Roboto Bold"/>
                <a:ea typeface="Roboto Bold"/>
                <a:cs typeface="Roboto Bold"/>
                <a:sym typeface="Roboto Bold"/>
              </a:rPr>
              <a:t>exploratoire</a:t>
            </a:r>
            <a:r>
              <a:rPr lang="en-US" sz="2192" b="1" dirty="0">
                <a:solidFill>
                  <a:srgbClr val="545454"/>
                </a:solidFill>
                <a:latin typeface="Roboto Bold"/>
                <a:ea typeface="Roboto Bold"/>
                <a:cs typeface="Roboto Bold"/>
                <a:sym typeface="Roboto Bold"/>
              </a:rPr>
              <a:t> (EDA) — </a:t>
            </a:r>
            <a:r>
              <a:rPr lang="en-US" sz="2192" b="1" dirty="0" err="1">
                <a:solidFill>
                  <a:srgbClr val="545454"/>
                </a:solidFill>
                <a:latin typeface="Roboto Bold"/>
                <a:ea typeface="Roboto Bold"/>
                <a:cs typeface="Roboto Bold"/>
                <a:sym typeface="Roboto Bold"/>
              </a:rPr>
              <a:t>histogrammes</a:t>
            </a:r>
            <a:r>
              <a:rPr lang="en-US" sz="2192" b="1" dirty="0">
                <a:solidFill>
                  <a:srgbClr val="545454"/>
                </a:solidFill>
                <a:latin typeface="Roboto Bold"/>
                <a:ea typeface="Roboto Bold"/>
                <a:cs typeface="Roboto Bold"/>
                <a:sym typeface="Roboto Bold"/>
              </a:rPr>
              <a:t>, boxplots, </a:t>
            </a:r>
            <a:r>
              <a:rPr lang="en-US" sz="2192" b="1" dirty="0" err="1">
                <a:solidFill>
                  <a:srgbClr val="545454"/>
                </a:solidFill>
                <a:latin typeface="Roboto Bold"/>
                <a:ea typeface="Roboto Bold"/>
                <a:cs typeface="Roboto Bold"/>
                <a:sym typeface="Roboto Bold"/>
              </a:rPr>
              <a:t>corrélations</a:t>
            </a:r>
            <a:endParaRPr lang="en-US" sz="2192" b="1" dirty="0">
              <a:solidFill>
                <a:srgbClr val="545454"/>
              </a:solidFill>
              <a:latin typeface="Roboto Bold"/>
              <a:ea typeface="Roboto Bold"/>
              <a:cs typeface="Roboto Bold"/>
              <a:sym typeface="Roboto Bold"/>
            </a:endParaRP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[3] </a:t>
            </a:r>
            <a:r>
              <a:rPr lang="en-US" sz="2192" b="1" dirty="0" err="1">
                <a:solidFill>
                  <a:srgbClr val="545454"/>
                </a:solidFill>
                <a:latin typeface="Roboto Bold"/>
                <a:ea typeface="Roboto Bold"/>
                <a:cs typeface="Roboto Bold"/>
                <a:sym typeface="Roboto Bold"/>
              </a:rPr>
              <a:t>Traitement</a:t>
            </a:r>
            <a:r>
              <a:rPr lang="en-US" sz="2192" b="1" dirty="0">
                <a:solidFill>
                  <a:srgbClr val="545454"/>
                </a:solidFill>
                <a:latin typeface="Roboto Bold"/>
                <a:ea typeface="Roboto Bold"/>
                <a:cs typeface="Roboto Bold"/>
                <a:sym typeface="Roboto Bold"/>
              </a:rPr>
              <a:t> des </a:t>
            </a:r>
            <a:r>
              <a:rPr lang="en-US" sz="2192" b="1" dirty="0" err="1">
                <a:solidFill>
                  <a:srgbClr val="545454"/>
                </a:solidFill>
                <a:latin typeface="Roboto Bold"/>
                <a:ea typeface="Roboto Bold"/>
                <a:cs typeface="Roboto Bold"/>
                <a:sym typeface="Roboto Bold"/>
              </a:rPr>
              <a:t>valeurs</a:t>
            </a:r>
            <a:r>
              <a:rPr lang="en-US" sz="2192" b="1" dirty="0">
                <a:solidFill>
                  <a:srgbClr val="545454"/>
                </a:solidFill>
                <a:latin typeface="Roboto Bold"/>
                <a:ea typeface="Roboto Bold"/>
                <a:cs typeface="Roboto Bold"/>
                <a:sym typeface="Roboto Bold"/>
              </a:rPr>
              <a:t> </a:t>
            </a:r>
            <a:r>
              <a:rPr lang="en-US" sz="2192" b="1" dirty="0" err="1">
                <a:solidFill>
                  <a:srgbClr val="545454"/>
                </a:solidFill>
                <a:latin typeface="Roboto Bold"/>
                <a:ea typeface="Roboto Bold"/>
                <a:cs typeface="Roboto Bold"/>
                <a:sym typeface="Roboto Bold"/>
              </a:rPr>
              <a:t>incohérentes</a:t>
            </a:r>
            <a:r>
              <a:rPr lang="en-US" sz="2192" b="1" dirty="0">
                <a:solidFill>
                  <a:srgbClr val="545454"/>
                </a:solidFill>
                <a:latin typeface="Roboto Bold"/>
                <a:ea typeface="Roboto Bold"/>
                <a:cs typeface="Roboto Bold"/>
                <a:sym typeface="Roboto Bold"/>
              </a:rPr>
              <a:t> (</a:t>
            </a:r>
            <a:r>
              <a:rPr lang="en-US" sz="2192" b="1" dirty="0" err="1">
                <a:solidFill>
                  <a:srgbClr val="545454"/>
                </a:solidFill>
                <a:latin typeface="Roboto Bold"/>
                <a:ea typeface="Roboto Bold"/>
                <a:cs typeface="Roboto Bold"/>
                <a:sym typeface="Roboto Bold"/>
              </a:rPr>
              <a:t>zéros</a:t>
            </a:r>
            <a:r>
              <a:rPr lang="en-US" sz="2192" b="1" dirty="0">
                <a:solidFill>
                  <a:srgbClr val="545454"/>
                </a:solidFill>
                <a:latin typeface="Roboto Bold"/>
                <a:ea typeface="Roboto Bold"/>
                <a:cs typeface="Roboto Bold"/>
                <a:sym typeface="Roboto Bold"/>
              </a:rPr>
              <a:t> </a:t>
            </a:r>
            <a:r>
              <a:rPr lang="en-US" sz="2192" b="1" dirty="0" err="1">
                <a:solidFill>
                  <a:srgbClr val="545454"/>
                </a:solidFill>
                <a:latin typeface="Roboto Bold"/>
                <a:ea typeface="Roboto Bold"/>
                <a:cs typeface="Roboto Bold"/>
                <a:sym typeface="Roboto Bold"/>
              </a:rPr>
              <a:t>biologiques</a:t>
            </a:r>
            <a:r>
              <a:rPr lang="en-US" sz="2192" b="1" dirty="0">
                <a:solidFill>
                  <a:srgbClr val="545454"/>
                </a:solidFill>
                <a:latin typeface="Roboto Bold"/>
                <a:ea typeface="Roboto Bold"/>
                <a:cs typeface="Roboto Bold"/>
                <a:sym typeface="Roboto Bold"/>
              </a:rPr>
              <a:t> → </a:t>
            </a:r>
            <a:r>
              <a:rPr lang="en-US" sz="2192" b="1" dirty="0" err="1">
                <a:solidFill>
                  <a:srgbClr val="545454"/>
                </a:solidFill>
                <a:latin typeface="Roboto Bold"/>
                <a:ea typeface="Roboto Bold"/>
                <a:cs typeface="Roboto Bold"/>
                <a:sym typeface="Roboto Bold"/>
              </a:rPr>
              <a:t>médiane</a:t>
            </a:r>
            <a:r>
              <a:rPr lang="en-US" sz="2192" b="1" dirty="0">
                <a:solidFill>
                  <a:srgbClr val="545454"/>
                </a:solidFill>
                <a:latin typeface="Roboto Bold"/>
                <a:ea typeface="Roboto Bold"/>
                <a:cs typeface="Roboto Bold"/>
                <a:sym typeface="Roboto Bold"/>
              </a:rPr>
              <a:t> par </a:t>
            </a:r>
            <a:r>
              <a:rPr lang="en-US" sz="2192" b="1" dirty="0" err="1">
                <a:solidFill>
                  <a:srgbClr val="545454"/>
                </a:solidFill>
                <a:latin typeface="Roboto Bold"/>
                <a:ea typeface="Roboto Bold"/>
                <a:cs typeface="Roboto Bold"/>
                <a:sym typeface="Roboto Bold"/>
              </a:rPr>
              <a:t>groupe</a:t>
            </a:r>
            <a:r>
              <a:rPr lang="en-US" sz="2192" b="1" dirty="0">
                <a:solidFill>
                  <a:srgbClr val="545454"/>
                </a:solidFill>
                <a:latin typeface="Roboto Bold"/>
                <a:ea typeface="Roboto Bold"/>
                <a:cs typeface="Roboto Bold"/>
                <a:sym typeface="Roboto Bold"/>
              </a:rPr>
              <a:t>)</a:t>
            </a: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[4] </a:t>
            </a:r>
            <a:r>
              <a:rPr lang="en-US" sz="2192" b="1" dirty="0" err="1">
                <a:solidFill>
                  <a:srgbClr val="545454"/>
                </a:solidFill>
                <a:latin typeface="Roboto Bold"/>
                <a:ea typeface="Roboto Bold"/>
                <a:cs typeface="Roboto Bold"/>
                <a:sym typeface="Roboto Bold"/>
              </a:rPr>
              <a:t>Gestion</a:t>
            </a:r>
            <a:r>
              <a:rPr lang="en-US" sz="2192" b="1" dirty="0">
                <a:solidFill>
                  <a:srgbClr val="545454"/>
                </a:solidFill>
                <a:latin typeface="Roboto Bold"/>
                <a:ea typeface="Roboto Bold"/>
                <a:cs typeface="Roboto Bold"/>
                <a:sym typeface="Roboto Bold"/>
              </a:rPr>
              <a:t> des </a:t>
            </a:r>
            <a:r>
              <a:rPr lang="en-US" sz="2192" b="1" dirty="0" smtClean="0">
                <a:solidFill>
                  <a:srgbClr val="545454"/>
                </a:solidFill>
                <a:latin typeface="Roboto Bold"/>
                <a:ea typeface="Roboto Bold"/>
                <a:cs typeface="Roboto Bold"/>
                <a:sym typeface="Roboto Bold"/>
              </a:rPr>
              <a:t>outlier</a:t>
            </a:r>
            <a:endParaRPr lang="en-US" sz="2192" b="1" dirty="0">
              <a:solidFill>
                <a:srgbClr val="545454"/>
              </a:solidFill>
              <a:latin typeface="Roboto Bold"/>
              <a:ea typeface="Roboto Bold"/>
              <a:cs typeface="Roboto Bold"/>
              <a:sym typeface="Roboto Bold"/>
            </a:endParaRP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[5] Split </a:t>
            </a:r>
            <a:r>
              <a:rPr lang="en-US" sz="2192" b="1" dirty="0" err="1">
                <a:solidFill>
                  <a:srgbClr val="545454"/>
                </a:solidFill>
                <a:latin typeface="Roboto Bold"/>
                <a:ea typeface="Roboto Bold"/>
                <a:cs typeface="Roboto Bold"/>
                <a:sym typeface="Roboto Bold"/>
              </a:rPr>
              <a:t>stratifié</a:t>
            </a:r>
            <a:r>
              <a:rPr lang="en-US" sz="2192" b="1" dirty="0">
                <a:solidFill>
                  <a:srgbClr val="545454"/>
                </a:solidFill>
                <a:latin typeface="Roboto Bold"/>
                <a:ea typeface="Roboto Bold"/>
                <a:cs typeface="Roboto Bold"/>
                <a:sym typeface="Roboto Bold"/>
              </a:rPr>
              <a:t> train/test (80% / 20%) + </a:t>
            </a:r>
            <a:r>
              <a:rPr lang="en-US" sz="2192" b="1" dirty="0" err="1">
                <a:solidFill>
                  <a:srgbClr val="545454"/>
                </a:solidFill>
                <a:latin typeface="Roboto Bold"/>
                <a:ea typeface="Roboto Bold"/>
                <a:cs typeface="Roboto Bold"/>
                <a:sym typeface="Roboto Bold"/>
              </a:rPr>
              <a:t>Standardisation</a:t>
            </a:r>
            <a:r>
              <a:rPr lang="en-US" sz="2192" b="1" dirty="0">
                <a:solidFill>
                  <a:srgbClr val="545454"/>
                </a:solidFill>
                <a:latin typeface="Roboto Bold"/>
                <a:ea typeface="Roboto Bold"/>
                <a:cs typeface="Roboto Bold"/>
                <a:sym typeface="Roboto Bold"/>
              </a:rPr>
              <a:t> (</a:t>
            </a:r>
            <a:r>
              <a:rPr lang="en-US" sz="2192" b="1" dirty="0" err="1">
                <a:solidFill>
                  <a:srgbClr val="545454"/>
                </a:solidFill>
                <a:latin typeface="Roboto Bold"/>
                <a:ea typeface="Roboto Bold"/>
                <a:cs typeface="Roboto Bold"/>
                <a:sym typeface="Roboto Bold"/>
              </a:rPr>
              <a:t>StandardScaler</a:t>
            </a:r>
            <a:r>
              <a:rPr lang="en-US" sz="2192" b="1" dirty="0">
                <a:solidFill>
                  <a:srgbClr val="545454"/>
                </a:solidFill>
                <a:latin typeface="Roboto Bold"/>
                <a:ea typeface="Roboto Bold"/>
                <a:cs typeface="Roboto Bold"/>
                <a:sym typeface="Roboto Bold"/>
              </a:rPr>
              <a:t>)</a:t>
            </a: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[6] </a:t>
            </a:r>
            <a:r>
              <a:rPr lang="en-US" sz="2192" b="1" dirty="0" err="1">
                <a:solidFill>
                  <a:srgbClr val="545454"/>
                </a:solidFill>
                <a:latin typeface="Roboto Bold"/>
                <a:ea typeface="Roboto Bold"/>
                <a:cs typeface="Roboto Bold"/>
                <a:sym typeface="Roboto Bold"/>
              </a:rPr>
              <a:t>Entraînement</a:t>
            </a:r>
            <a:r>
              <a:rPr lang="en-US" sz="2192" b="1" dirty="0">
                <a:solidFill>
                  <a:srgbClr val="545454"/>
                </a:solidFill>
                <a:latin typeface="Roboto Bold"/>
                <a:ea typeface="Roboto Bold"/>
                <a:cs typeface="Roboto Bold"/>
                <a:sym typeface="Roboto Bold"/>
              </a:rPr>
              <a:t> de 6 </a:t>
            </a:r>
            <a:r>
              <a:rPr lang="en-US" sz="2192" b="1" dirty="0" err="1">
                <a:solidFill>
                  <a:srgbClr val="545454"/>
                </a:solidFill>
                <a:latin typeface="Roboto Bold"/>
                <a:ea typeface="Roboto Bold"/>
                <a:cs typeface="Roboto Bold"/>
                <a:sym typeface="Roboto Bold"/>
              </a:rPr>
              <a:t>modèles</a:t>
            </a:r>
            <a:r>
              <a:rPr lang="en-US" sz="2192" b="1" dirty="0">
                <a:solidFill>
                  <a:srgbClr val="545454"/>
                </a:solidFill>
                <a:latin typeface="Roboto Bold"/>
                <a:ea typeface="Roboto Bold"/>
                <a:cs typeface="Roboto Bold"/>
                <a:sym typeface="Roboto Bold"/>
              </a:rPr>
              <a:t> de classification</a:t>
            </a:r>
          </a:p>
          <a:p>
            <a:pPr algn="just">
              <a:lnSpc>
                <a:spcPts val="4384"/>
              </a:lnSpc>
            </a:pPr>
            <a:r>
              <a:rPr lang="en-US" sz="2192" b="1" dirty="0">
                <a:solidFill>
                  <a:srgbClr val="545454"/>
                </a:solidFill>
                <a:latin typeface="Roboto Bold"/>
                <a:ea typeface="Roboto Bold"/>
                <a:cs typeface="Roboto Bold"/>
                <a:sym typeface="Roboto Bold"/>
              </a:rPr>
              <a:t>       ↓</a:t>
            </a:r>
          </a:p>
          <a:p>
            <a:pPr algn="just">
              <a:lnSpc>
                <a:spcPts val="4384"/>
              </a:lnSpc>
            </a:pPr>
            <a:r>
              <a:rPr lang="en-US" sz="2192" b="1" dirty="0">
                <a:solidFill>
                  <a:srgbClr val="545454"/>
                </a:solidFill>
                <a:latin typeface="Roboto Bold"/>
                <a:ea typeface="Roboto Bold"/>
                <a:cs typeface="Roboto Bold"/>
                <a:sym typeface="Roboto Bold"/>
              </a:rPr>
              <a:t>[7] </a:t>
            </a:r>
            <a:r>
              <a:rPr lang="en-US" sz="2192" b="1" dirty="0" err="1">
                <a:solidFill>
                  <a:srgbClr val="545454"/>
                </a:solidFill>
                <a:latin typeface="Roboto Bold"/>
                <a:ea typeface="Roboto Bold"/>
                <a:cs typeface="Roboto Bold"/>
                <a:sym typeface="Roboto Bold"/>
              </a:rPr>
              <a:t>Évaluation</a:t>
            </a:r>
            <a:r>
              <a:rPr lang="en-US" sz="2192" b="1" dirty="0">
                <a:solidFill>
                  <a:srgbClr val="545454"/>
                </a:solidFill>
                <a:latin typeface="Roboto Bold"/>
                <a:ea typeface="Roboto Bold"/>
                <a:cs typeface="Roboto Bold"/>
                <a:sym typeface="Roboto Bold"/>
              </a:rPr>
              <a:t> comparative + validation </a:t>
            </a:r>
            <a:r>
              <a:rPr lang="en-US" sz="2192" b="1" dirty="0" err="1">
                <a:solidFill>
                  <a:srgbClr val="545454"/>
                </a:solidFill>
                <a:latin typeface="Roboto Bold"/>
                <a:ea typeface="Roboto Bold"/>
                <a:cs typeface="Roboto Bold"/>
                <a:sym typeface="Roboto Bold"/>
              </a:rPr>
              <a:t>croisée</a:t>
            </a:r>
            <a:r>
              <a:rPr lang="en-US" sz="2192" b="1" dirty="0">
                <a:solidFill>
                  <a:srgbClr val="545454"/>
                </a:solidFill>
                <a:latin typeface="Roboto Bold"/>
                <a:ea typeface="Roboto Bold"/>
                <a:cs typeface="Roboto Bold"/>
                <a:sym typeface="Roboto Bold"/>
              </a:rPr>
              <a:t> + </a:t>
            </a:r>
            <a:r>
              <a:rPr lang="en-US" sz="2192" b="1" dirty="0" err="1">
                <a:solidFill>
                  <a:srgbClr val="545454"/>
                </a:solidFill>
                <a:latin typeface="Roboto Bold"/>
                <a:ea typeface="Roboto Bold"/>
                <a:cs typeface="Roboto Bold"/>
                <a:sym typeface="Roboto Bold"/>
              </a:rPr>
              <a:t>interprétation</a:t>
            </a:r>
            <a:endParaRPr lang="en-US" sz="2192" b="1" dirty="0">
              <a:solidFill>
                <a:srgbClr val="545454"/>
              </a:solidFill>
              <a:latin typeface="Roboto Bold"/>
              <a:ea typeface="Roboto Bold"/>
              <a:cs typeface="Roboto Bold"/>
              <a:sym typeface="Roboto Bold"/>
            </a:endParaRPr>
          </a:p>
        </p:txBody>
      </p:sp>
      <p:sp>
        <p:nvSpPr>
          <p:cNvPr id="5" name="TextBox 5"/>
          <p:cNvSpPr txBox="1"/>
          <p:nvPr/>
        </p:nvSpPr>
        <p:spPr>
          <a:xfrm>
            <a:off x="1028700" y="1697400"/>
            <a:ext cx="13505303" cy="648970"/>
          </a:xfrm>
          <a:prstGeom prst="rect">
            <a:avLst/>
          </a:prstGeom>
        </p:spPr>
        <p:txBody>
          <a:bodyPr lIns="0" tIns="0" rIns="0" bIns="0" rtlCol="0" anchor="t">
            <a:spAutoFit/>
          </a:bodyPr>
          <a:lstStyle/>
          <a:p>
            <a:pPr algn="just">
              <a:lnSpc>
                <a:spcPts val="5599"/>
              </a:lnSpc>
            </a:pPr>
            <a:r>
              <a:rPr lang="en-US" sz="2799" b="1">
                <a:solidFill>
                  <a:srgbClr val="545454"/>
                </a:solidFill>
                <a:latin typeface="Roboto Bold"/>
                <a:ea typeface="Roboto Bold"/>
                <a:cs typeface="Roboto Bold"/>
                <a:sym typeface="Roboto Bold"/>
              </a:rPr>
              <a:t>Le pipeline mis en œuvre suit les étapes standards d'un projet de Machine Learning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aphicFrame>
        <p:nvGraphicFramePr>
          <p:cNvPr id="5" name="Object 5"/>
          <p:cNvGraphicFramePr/>
          <p:nvPr/>
        </p:nvGraphicFramePr>
        <p:xfrm>
          <a:off x="11107194" y="2618601"/>
          <a:ext cx="5657850" cy="3771900"/>
        </p:xfrm>
        <a:graphic>
          <a:graphicData uri="http://schemas.openxmlformats.org/presentationml/2006/ole">
            <mc:AlternateContent xmlns:mc="http://schemas.openxmlformats.org/markup-compatibility/2006">
              <mc:Choice xmlns:v="urn:schemas-microsoft-com:vml" Requires="v">
                <p:oleObj spid="_x0000_s3075" name="Worksheet" r:id="rId5" imgW="6781800" imgH="4902200" progId="Excel.Sheet.12">
                  <p:embed/>
                </p:oleObj>
              </mc:Choice>
              <mc:Fallback>
                <p:oleObj name="Worksheet" r:id="rId5" imgW="6781800" imgH="4902200" progId="Excel.Sheet.12">
                  <p:embed/>
                  <p:pic>
                    <p:nvPicPr>
                      <p:cNvPr id="0" name=""/>
                      <p:cNvPicPr/>
                      <p:nvPr/>
                    </p:nvPicPr>
                    <p:blipFill>
                      <a:blip r:embed="rId6"/>
                      <a:stretch>
                        <a:fillRect/>
                      </a:stretch>
                    </p:blipFill>
                    <p:spPr>
                      <a:xfrm>
                        <a:off x="11107194" y="2618601"/>
                        <a:ext cx="5657850" cy="3771900"/>
                      </a:xfrm>
                      <a:prstGeom prst="rect">
                        <a:avLst/>
                      </a:prstGeom>
                    </p:spPr>
                  </p:pic>
                </p:oleObj>
              </mc:Fallback>
            </mc:AlternateContent>
          </a:graphicData>
        </a:graphic>
      </p:graphicFrame>
      <p:sp>
        <p:nvSpPr>
          <p:cNvPr id="6" name="TextBox 6"/>
          <p:cNvSpPr txBox="1"/>
          <p:nvPr/>
        </p:nvSpPr>
        <p:spPr>
          <a:xfrm>
            <a:off x="904875" y="1162050"/>
            <a:ext cx="14846642"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ANALYSE EXPLORATOIRE DES DONNÉES (EDA)</a:t>
            </a:r>
          </a:p>
        </p:txBody>
      </p:sp>
      <p:sp>
        <p:nvSpPr>
          <p:cNvPr id="7" name="TextBox 7"/>
          <p:cNvSpPr txBox="1"/>
          <p:nvPr/>
        </p:nvSpPr>
        <p:spPr>
          <a:xfrm>
            <a:off x="904875" y="2032384"/>
            <a:ext cx="9674574" cy="3221991"/>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L'analyse exploratoire a révélé plusieurs problèmes de qualité des données. Bien qu'aucune valeur NaN ne soit présente, cinq variables contiennent des valeurs 0 biologiquement impossibles, qui constituent en réalité des données manquantes implicitement encodées.</a:t>
            </a:r>
          </a:p>
        </p:txBody>
      </p:sp>
      <p:sp>
        <p:nvSpPr>
          <p:cNvPr id="8" name="TextBox 8"/>
          <p:cNvSpPr txBox="1"/>
          <p:nvPr/>
        </p:nvSpPr>
        <p:spPr>
          <a:xfrm>
            <a:off x="904875" y="5515042"/>
            <a:ext cx="9674574" cy="3221991"/>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L'analyse statistique via NumPy a permis de calculer les statistiques descriptives clés. Les corrélations les plus élevées avec la variable cible Outcome sont : Glucose (0,493), BMI (0,293), Age (0,238) et Pregnancies (0,222). Glucose est ainsi la variable la plus discriminante pour la prédiction du diabète.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1028700" y="1231775"/>
            <a:ext cx="14846642"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TRAITEMENT DES VALEURS INCOHÉRENTES</a:t>
            </a:r>
          </a:p>
        </p:txBody>
      </p:sp>
      <p:sp>
        <p:nvSpPr>
          <p:cNvPr id="6" name="TextBox 6"/>
          <p:cNvSpPr txBox="1"/>
          <p:nvPr/>
        </p:nvSpPr>
        <p:spPr>
          <a:xfrm>
            <a:off x="1028700" y="2131254"/>
            <a:ext cx="15523416" cy="6494781"/>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Trois étapes de prétraitement ont été appliquées avec justification méthodologique : Traitement des valeurs incohérentes : </a:t>
            </a:r>
          </a:p>
          <a:p>
            <a:pPr marL="496567" lvl="1" indent="-248284" algn="just">
              <a:lnSpc>
                <a:spcPts val="4599"/>
              </a:lnSpc>
              <a:buFont typeface="Arial"/>
              <a:buChar char="•"/>
            </a:pPr>
            <a:r>
              <a:rPr lang="en-US" sz="2299" b="1">
                <a:solidFill>
                  <a:srgbClr val="545454"/>
                </a:solidFill>
                <a:latin typeface="Roboto Bold"/>
                <a:ea typeface="Roboto Bold"/>
                <a:cs typeface="Roboto Bold"/>
                <a:sym typeface="Roboto Bold"/>
              </a:rPr>
              <a:t>Les zéros biologiquement impossibles ont été remplacés par la médiane calculée séparément pour chaque groupe (diabétique / nondiabétique). Cette approche est préférable à la médiane globale car elle respecte les distributions différentes entre les deux classes. </a:t>
            </a:r>
          </a:p>
          <a:p>
            <a:pPr marL="496567" lvl="1" indent="-248284" algn="just">
              <a:lnSpc>
                <a:spcPts val="4599"/>
              </a:lnSpc>
              <a:buFont typeface="Arial"/>
              <a:buChar char="•"/>
            </a:pPr>
            <a:r>
              <a:rPr lang="en-US" sz="2299" b="1">
                <a:solidFill>
                  <a:srgbClr val="545454"/>
                </a:solidFill>
                <a:latin typeface="Roboto Bold"/>
                <a:ea typeface="Roboto Bold"/>
                <a:cs typeface="Roboto Bold"/>
                <a:sym typeface="Roboto Bold"/>
              </a:rPr>
              <a:t>Gestion des valeurs aberrantes : La méthode IQR (Interquartile Range) avec écrêtage (winsorisation) a été appliquée. Les valeurs en dehors de l'intervalle [Q1 - 1,5×IQR ; Q3 + 1,5×IQR] sont ramenées aux bornes plutôt que supprimées, préservant ainsi la taille du dataset. </a:t>
            </a:r>
          </a:p>
          <a:p>
            <a:pPr marL="496567" lvl="1" indent="-248284" algn="just">
              <a:lnSpc>
                <a:spcPts val="4599"/>
              </a:lnSpc>
              <a:buFont typeface="Arial"/>
              <a:buChar char="•"/>
            </a:pPr>
            <a:r>
              <a:rPr lang="en-US" sz="2299" b="1">
                <a:solidFill>
                  <a:srgbClr val="545454"/>
                </a:solidFill>
                <a:latin typeface="Roboto Bold"/>
                <a:ea typeface="Roboto Bold"/>
                <a:cs typeface="Roboto Bold"/>
                <a:sym typeface="Roboto Bold"/>
              </a:rPr>
              <a:t>Standardisation : Le StandardScaler (centrage-réduction) a été appliqué. Le scaler est ajusté (fit) exclusivement sur le jeu d'entraînement puis appliqué (transform) sur le jeu de test, évitant tout data leakage. Le split train/test (80%/20%) est stratifié pour maintenir les proportions des classes.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1028700" y="847725"/>
            <a:ext cx="14846642"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MODÈLES DE MACHINE LEARNING </a:t>
            </a:r>
          </a:p>
        </p:txBody>
      </p:sp>
      <p:sp>
        <p:nvSpPr>
          <p:cNvPr id="6" name="TextBox 6"/>
          <p:cNvSpPr txBox="1"/>
          <p:nvPr/>
        </p:nvSpPr>
        <p:spPr>
          <a:xfrm>
            <a:off x="1028700" y="1469457"/>
            <a:ext cx="15523416" cy="8195945"/>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Six algorithmes de classification ont été implémentés avec scikit-learn :</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Régression Logistique Modèle linéaire qui modélise la probabilité P(y=1|x) = σ(w᷊ x + b) via la fonction sigmoïde. Robuste, interprétable et rapide, il sert de baseline. Paramètres : max_iter=1000. </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K-Nearest Neighbors (KNN) Algorithme non paramétrique (lazy learner) qui classe un point en regardant ses k voisins les plus proches par distance euclidienne. Très sensible à l'échelle, d'où la nécessité de la standardisation préalable. Paramètre : k=7.</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Arbre de Décision Partitionne récursivement l'espace des features selon des règles if-else qui maximisent la pureté des nœuds (critère Gini). Très interprétable mais sujet à l'overfitting, limité par max_depth=5. </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Random Forest Ensemble de 100 arbres de décision entraînés par bagging sur des sous-ensembles bootstrap avec sélection aléatoire des features. La prédiction finale est le vote majoritaire. Réduit l'overfitting grâce à la diversité des arbres. Paramètres : n_estimators=100, max_depth=6. </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SVM (Support Vector Machine) Recherche l'hyperplan séparateur qui maximise la marge entre les classes. Le noyau RBF (Radial Basis Function) permet de gérer des données non-linéairement séparables via une projection dans un espace de dimension supérieure. Paramètres : kernel='rbf', C=1.0. </a:t>
            </a:r>
          </a:p>
          <a:p>
            <a:pPr marL="431801" lvl="1" indent="-215900" algn="just">
              <a:lnSpc>
                <a:spcPts val="4000"/>
              </a:lnSpc>
              <a:buFont typeface="Arial"/>
              <a:buChar char="•"/>
            </a:pPr>
            <a:r>
              <a:rPr lang="en-US" sz="2000" b="1">
                <a:solidFill>
                  <a:srgbClr val="545454"/>
                </a:solidFill>
                <a:latin typeface="Roboto Bold"/>
                <a:ea typeface="Roboto Bold"/>
                <a:cs typeface="Roboto Bold"/>
                <a:sym typeface="Roboto Bold"/>
              </a:rPr>
              <a:t>Réseau de Neurones Artificiels (ANN / MLP) Perceptron multicouche avec deux couches cachées (64 et 32 neurones), activation ReLU, apprentissage par rétropropagation du gradient. L'arrêt précoce (early_stopping=True) prévient l'overfitting. Paramètres : hidden_layer_sizes=(64,32), max_iter=500.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aphicFrame>
        <p:nvGraphicFramePr>
          <p:cNvPr id="5" name="Object 5"/>
          <p:cNvGraphicFramePr/>
          <p:nvPr/>
        </p:nvGraphicFramePr>
        <p:xfrm>
          <a:off x="942975" y="3949150"/>
          <a:ext cx="9429750" cy="4400550"/>
        </p:xfrm>
        <a:graphic>
          <a:graphicData uri="http://schemas.openxmlformats.org/presentationml/2006/ole">
            <mc:AlternateContent xmlns:mc="http://schemas.openxmlformats.org/markup-compatibility/2006">
              <mc:Choice xmlns:v="urn:schemas-microsoft-com:vml" Requires="v">
                <p:oleObj spid="_x0000_s4099" name="Worksheet" r:id="rId5" imgW="11315700" imgH="6286500" progId="Excel.Sheet.12">
                  <p:embed/>
                </p:oleObj>
              </mc:Choice>
              <mc:Fallback>
                <p:oleObj name="Worksheet" r:id="rId5" imgW="11315700" imgH="6286500" progId="Excel.Sheet.12">
                  <p:embed/>
                  <p:pic>
                    <p:nvPicPr>
                      <p:cNvPr id="0" name=""/>
                      <p:cNvPicPr/>
                      <p:nvPr/>
                    </p:nvPicPr>
                    <p:blipFill>
                      <a:blip r:embed="rId6"/>
                      <a:stretch>
                        <a:fillRect/>
                      </a:stretch>
                    </p:blipFill>
                    <p:spPr>
                      <a:xfrm>
                        <a:off x="942975" y="3949150"/>
                        <a:ext cx="9429750" cy="4400550"/>
                      </a:xfrm>
                      <a:prstGeom prst="rect">
                        <a:avLst/>
                      </a:prstGeom>
                    </p:spPr>
                  </p:pic>
                </p:oleObj>
              </mc:Fallback>
            </mc:AlternateContent>
          </a:graphicData>
        </a:graphic>
      </p:graphicFrame>
      <p:sp>
        <p:nvSpPr>
          <p:cNvPr id="6" name="TextBox 6"/>
          <p:cNvSpPr txBox="1"/>
          <p:nvPr/>
        </p:nvSpPr>
        <p:spPr>
          <a:xfrm>
            <a:off x="904875" y="1162050"/>
            <a:ext cx="15387291"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PERFORMANCES COMPARATIVES DES MODÈLES</a:t>
            </a:r>
          </a:p>
        </p:txBody>
      </p:sp>
      <p:sp>
        <p:nvSpPr>
          <p:cNvPr id="7" name="TextBox 7"/>
          <p:cNvSpPr txBox="1"/>
          <p:nvPr/>
        </p:nvSpPr>
        <p:spPr>
          <a:xfrm>
            <a:off x="904875" y="1967357"/>
            <a:ext cx="14982767" cy="1250316"/>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Le tableau suivant présente les métriques de performance de chaque modèle sur le jeu de test (20% des données, soit 154 observations) : </a:t>
            </a:r>
          </a:p>
        </p:txBody>
      </p:sp>
      <p:sp>
        <p:nvSpPr>
          <p:cNvPr id="8" name="TextBox 8"/>
          <p:cNvSpPr txBox="1"/>
          <p:nvPr/>
        </p:nvSpPr>
        <p:spPr>
          <a:xfrm>
            <a:off x="10018259" y="3777157"/>
            <a:ext cx="7279141" cy="4536441"/>
          </a:xfrm>
          <a:prstGeom prst="rect">
            <a:avLst/>
          </a:prstGeom>
        </p:spPr>
        <p:txBody>
          <a:bodyPr lIns="0" tIns="0" rIns="0" bIns="0" rtlCol="0" anchor="t">
            <a:spAutoFit/>
          </a:bodyPr>
          <a:lstStyle/>
          <a:p>
            <a:pPr algn="just">
              <a:lnSpc>
                <a:spcPts val="5199"/>
              </a:lnSpc>
            </a:pPr>
            <a:r>
              <a:rPr lang="en-US" sz="2599" b="1">
                <a:solidFill>
                  <a:srgbClr val="545454"/>
                </a:solidFill>
                <a:latin typeface="Roboto Bold"/>
                <a:ea typeface="Roboto Bold"/>
                <a:cs typeface="Roboto Bold"/>
                <a:sym typeface="Roboto Bold"/>
              </a:rPr>
              <a:t>Le Random Forest obtient les meilleures performances globales avec une Accuracy de ~81% et un F1-Score de ~73%. La Régression Logistique offre un excellent compromis performance/interprétabilité. Le KNN présente les performances les plus faibles, probablement en raison du petit nombre d'observations.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957722">
            <a:off x="15137792" y="-5840948"/>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2957722">
            <a:off x="-6482433" y="4360876"/>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2957722">
            <a:off x="18043617" y="8433401"/>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TextBox 5"/>
          <p:cNvSpPr txBox="1"/>
          <p:nvPr/>
        </p:nvSpPr>
        <p:spPr>
          <a:xfrm>
            <a:off x="904875" y="1162050"/>
            <a:ext cx="15387291" cy="601980"/>
          </a:xfrm>
          <a:prstGeom prst="rect">
            <a:avLst/>
          </a:prstGeom>
        </p:spPr>
        <p:txBody>
          <a:bodyPr lIns="0" tIns="0" rIns="0" bIns="0" rtlCol="0" anchor="t">
            <a:spAutoFit/>
          </a:bodyPr>
          <a:lstStyle/>
          <a:p>
            <a:pPr algn="l">
              <a:lnSpc>
                <a:spcPts val="4635"/>
              </a:lnSpc>
            </a:pPr>
            <a:r>
              <a:rPr lang="en-US" sz="4500" b="1">
                <a:solidFill>
                  <a:srgbClr val="112E4D"/>
                </a:solidFill>
                <a:latin typeface="Montserrat Heavy"/>
                <a:ea typeface="Montserrat Heavy"/>
                <a:cs typeface="Montserrat Heavy"/>
                <a:sym typeface="Montserrat Heavy"/>
              </a:rPr>
              <a:t>ANALYSE CRITIQUE DES RÉSULTATS</a:t>
            </a:r>
          </a:p>
        </p:txBody>
      </p:sp>
      <p:sp>
        <p:nvSpPr>
          <p:cNvPr id="6" name="TextBox 6"/>
          <p:cNvSpPr txBox="1"/>
          <p:nvPr/>
        </p:nvSpPr>
        <p:spPr>
          <a:xfrm>
            <a:off x="904875" y="1967357"/>
            <a:ext cx="15825922" cy="6706984"/>
          </a:xfrm>
          <a:prstGeom prst="rect">
            <a:avLst/>
          </a:prstGeom>
        </p:spPr>
        <p:txBody>
          <a:bodyPr lIns="0" tIns="0" rIns="0" bIns="0" rtlCol="0" anchor="t">
            <a:spAutoFit/>
          </a:bodyPr>
          <a:lstStyle/>
          <a:p>
            <a:pPr marL="577340" lvl="1" indent="-288670" algn="l">
              <a:lnSpc>
                <a:spcPts val="5348"/>
              </a:lnSpc>
              <a:buFont typeface="Arial"/>
              <a:buChar char="•"/>
            </a:pPr>
            <a:r>
              <a:rPr lang="en-US" sz="2674" b="1">
                <a:solidFill>
                  <a:srgbClr val="545454"/>
                </a:solidFill>
                <a:latin typeface="Roboto Bold"/>
                <a:ea typeface="Roboto Bold"/>
                <a:cs typeface="Roboto Bold"/>
                <a:sym typeface="Roboto Bold"/>
              </a:rPr>
              <a:t>Équilibre du dataset : Le dataset est modérément déséquilibré (65,1% négatifs / 34,9% positifs). Ce déséquilibre peut biaiser les modèles vers la classe majoritaire. L'Accuracy seule est insuffisante ; le Recall et le F1-Score sont plus informatifs. </a:t>
            </a:r>
          </a:p>
          <a:p>
            <a:pPr marL="577340" lvl="1" indent="-288670" algn="l">
              <a:lnSpc>
                <a:spcPts val="5348"/>
              </a:lnSpc>
              <a:buFont typeface="Arial"/>
              <a:buChar char="•"/>
            </a:pPr>
            <a:r>
              <a:rPr lang="en-US" sz="2674" b="1">
                <a:solidFill>
                  <a:srgbClr val="545454"/>
                </a:solidFill>
                <a:latin typeface="Roboto Bold"/>
                <a:ea typeface="Roboto Bold"/>
                <a:cs typeface="Roboto Bold"/>
                <a:sym typeface="Roboto Bold"/>
              </a:rPr>
              <a:t>Type d'erreur critique : Dans ce contexte médical, les Faux Négatifs (FN) sont les plus dangereux : prédire qu'un patient est non-diabétique alors qu'il l'est réellement le prive d'un traitement précoce. Le Recall (sensibilité) est donc la métrique prioritaire à maximiser. </a:t>
            </a:r>
          </a:p>
          <a:p>
            <a:pPr marL="577340" lvl="1" indent="-288670" algn="l">
              <a:lnSpc>
                <a:spcPts val="5348"/>
              </a:lnSpc>
              <a:buFont typeface="Arial"/>
              <a:buChar char="•"/>
            </a:pPr>
            <a:r>
              <a:rPr lang="en-US" sz="2674" b="1">
                <a:solidFill>
                  <a:srgbClr val="545454"/>
                </a:solidFill>
                <a:latin typeface="Roboto Bold"/>
                <a:ea typeface="Roboto Bold"/>
                <a:cs typeface="Roboto Bold"/>
                <a:sym typeface="Roboto Bold"/>
              </a:rPr>
              <a:t>Fiabilité du modèle : Un Recall de ~70% signifie que ~30% des cas diabétiques ne sont pas détectés. La validation croisée à 5 plis confirme la stabilité des modèles (variance faible). Néanmoins, une Accuracy de ~81% sur seulement 768 observations doit être interprétée avec prudence avant tout déploiement clinique.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963444">
            <a:off x="15386073" y="-6345436"/>
            <a:ext cx="7227846" cy="13734625"/>
          </a:xfrm>
          <a:custGeom>
            <a:avLst/>
            <a:gdLst/>
            <a:ahLst/>
            <a:cxnLst/>
            <a:rect l="l" t="t" r="r" b="b"/>
            <a:pathLst>
              <a:path w="7227846" h="13734625">
                <a:moveTo>
                  <a:pt x="0" y="0"/>
                </a:moveTo>
                <a:lnTo>
                  <a:pt x="7227847" y="0"/>
                </a:lnTo>
                <a:lnTo>
                  <a:pt x="7227847" y="13734625"/>
                </a:lnTo>
                <a:lnTo>
                  <a:pt x="0" y="1373462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rot="8100000">
            <a:off x="-2264925" y="7257014"/>
            <a:ext cx="3550180" cy="6746186"/>
          </a:xfrm>
          <a:custGeom>
            <a:avLst/>
            <a:gdLst/>
            <a:ahLst/>
            <a:cxnLst/>
            <a:rect l="l" t="t" r="r" b="b"/>
            <a:pathLst>
              <a:path w="3550180" h="6746186">
                <a:moveTo>
                  <a:pt x="0" y="0"/>
                </a:moveTo>
                <a:lnTo>
                  <a:pt x="3550181" y="0"/>
                </a:lnTo>
                <a:lnTo>
                  <a:pt x="3550181" y="6746186"/>
                </a:lnTo>
                <a:lnTo>
                  <a:pt x="0" y="674618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aphicFrame>
        <p:nvGraphicFramePr>
          <p:cNvPr id="4" name="Object 4"/>
          <p:cNvGraphicFramePr/>
          <p:nvPr/>
        </p:nvGraphicFramePr>
        <p:xfrm>
          <a:off x="1363536" y="3883984"/>
          <a:ext cx="7543800" cy="4016788"/>
        </p:xfrm>
        <a:graphic>
          <a:graphicData uri="http://schemas.openxmlformats.org/presentationml/2006/ole">
            <mc:AlternateContent xmlns:mc="http://schemas.openxmlformats.org/markup-compatibility/2006">
              <mc:Choice xmlns:v="urn:schemas-microsoft-com:vml" Requires="v">
                <p:oleObj spid="_x0000_s5123" name="Worksheet" r:id="rId5" imgW="9042400" imgH="5524500" progId="Excel.Sheet.12">
                  <p:embed/>
                </p:oleObj>
              </mc:Choice>
              <mc:Fallback>
                <p:oleObj name="Worksheet" r:id="rId5" imgW="9042400" imgH="5524500" progId="Excel.Sheet.12">
                  <p:embed/>
                  <p:pic>
                    <p:nvPicPr>
                      <p:cNvPr id="0" name=""/>
                      <p:cNvPicPr/>
                      <p:nvPr/>
                    </p:nvPicPr>
                    <p:blipFill>
                      <a:blip r:embed="rId6"/>
                      <a:stretch>
                        <a:fillRect/>
                      </a:stretch>
                    </p:blipFill>
                    <p:spPr>
                      <a:xfrm>
                        <a:off x="1363536" y="3883984"/>
                        <a:ext cx="7543800" cy="4016788"/>
                      </a:xfrm>
                      <a:prstGeom prst="rect">
                        <a:avLst/>
                      </a:prstGeom>
                    </p:spPr>
                  </p:pic>
                </p:oleObj>
              </mc:Fallback>
            </mc:AlternateContent>
          </a:graphicData>
        </a:graphic>
      </p:graphicFrame>
      <p:sp>
        <p:nvSpPr>
          <p:cNvPr id="5" name="TextBox 5"/>
          <p:cNvSpPr txBox="1"/>
          <p:nvPr/>
        </p:nvSpPr>
        <p:spPr>
          <a:xfrm>
            <a:off x="771525" y="882549"/>
            <a:ext cx="14403311" cy="828675"/>
          </a:xfrm>
          <a:prstGeom prst="rect">
            <a:avLst/>
          </a:prstGeom>
        </p:spPr>
        <p:txBody>
          <a:bodyPr lIns="0" tIns="0" rIns="0" bIns="0" rtlCol="0" anchor="t">
            <a:spAutoFit/>
          </a:bodyPr>
          <a:lstStyle/>
          <a:p>
            <a:pPr marL="0" lvl="0" indent="0" algn="l">
              <a:lnSpc>
                <a:spcPts val="6300"/>
              </a:lnSpc>
            </a:pPr>
            <a:r>
              <a:rPr lang="en-US" sz="6000" b="1">
                <a:solidFill>
                  <a:srgbClr val="112E4D"/>
                </a:solidFill>
                <a:latin typeface="Montserrat Heavy"/>
                <a:ea typeface="Montserrat Heavy"/>
                <a:cs typeface="Montserrat Heavy"/>
                <a:sym typeface="Montserrat Heavy"/>
              </a:rPr>
              <a:t>VARIABLES LES PLUS INFLUENTES </a:t>
            </a:r>
          </a:p>
        </p:txBody>
      </p:sp>
      <p:sp>
        <p:nvSpPr>
          <p:cNvPr id="6" name="TextBox 6"/>
          <p:cNvSpPr txBox="1"/>
          <p:nvPr/>
        </p:nvSpPr>
        <p:spPr>
          <a:xfrm>
            <a:off x="904875" y="1967357"/>
            <a:ext cx="13835349" cy="1299305"/>
          </a:xfrm>
          <a:prstGeom prst="rect">
            <a:avLst/>
          </a:prstGeom>
        </p:spPr>
        <p:txBody>
          <a:bodyPr lIns="0" tIns="0" rIns="0" bIns="0" rtlCol="0" anchor="t">
            <a:spAutoFit/>
          </a:bodyPr>
          <a:lstStyle/>
          <a:p>
            <a:pPr marL="577340" lvl="1" indent="-288670" algn="l">
              <a:lnSpc>
                <a:spcPts val="5348"/>
              </a:lnSpc>
              <a:buFont typeface="Arial"/>
              <a:buChar char="•"/>
            </a:pPr>
            <a:r>
              <a:rPr lang="en-US" sz="2674" b="1">
                <a:solidFill>
                  <a:srgbClr val="545454"/>
                </a:solidFill>
                <a:latin typeface="Roboto Bold"/>
                <a:ea typeface="Roboto Bold"/>
                <a:cs typeface="Roboto Bold"/>
                <a:sym typeface="Roboto Bold"/>
              </a:rPr>
              <a:t>L'analyse des importances (feature importances) du Random Forest révèle les variables les plus prédictives : </a:t>
            </a:r>
          </a:p>
        </p:txBody>
      </p:sp>
      <p:sp>
        <p:nvSpPr>
          <p:cNvPr id="7" name="TextBox 7"/>
          <p:cNvSpPr txBox="1"/>
          <p:nvPr/>
        </p:nvSpPr>
        <p:spPr>
          <a:xfrm>
            <a:off x="9736757" y="3664909"/>
            <a:ext cx="7816306" cy="5357585"/>
          </a:xfrm>
          <a:prstGeom prst="rect">
            <a:avLst/>
          </a:prstGeom>
        </p:spPr>
        <p:txBody>
          <a:bodyPr lIns="0" tIns="0" rIns="0" bIns="0" rtlCol="0" anchor="t">
            <a:spAutoFit/>
          </a:bodyPr>
          <a:lstStyle/>
          <a:p>
            <a:pPr algn="just">
              <a:lnSpc>
                <a:spcPts val="5348"/>
              </a:lnSpc>
            </a:pPr>
            <a:r>
              <a:rPr lang="en-US" sz="2674" b="1">
                <a:solidFill>
                  <a:srgbClr val="545454"/>
                </a:solidFill>
                <a:latin typeface="Roboto Bold"/>
                <a:ea typeface="Roboto Bold"/>
                <a:cs typeface="Roboto Bold"/>
                <a:sym typeface="Roboto Bold"/>
              </a:rPr>
              <a:t>Ces résultats sont cohérents avec la littérature médicale : </a:t>
            </a:r>
          </a:p>
          <a:p>
            <a:pPr algn="just">
              <a:lnSpc>
                <a:spcPts val="5348"/>
              </a:lnSpc>
            </a:pPr>
            <a:r>
              <a:rPr lang="en-US" sz="2674" b="1">
                <a:solidFill>
                  <a:srgbClr val="545454"/>
                </a:solidFill>
                <a:latin typeface="Roboto Bold"/>
                <a:ea typeface="Roboto Bold"/>
                <a:cs typeface="Roboto Bold"/>
                <a:sym typeface="Roboto Bold"/>
              </a:rPr>
              <a:t>le taux de glucose est le critère diagnostique principal du diabète (seuil clinique de 126 mg/dL à jeun), l'obésité mesurée par l'IMC constitue le facteur de risque modifiable le plus important, et l'âge reflète la dégradation progressive de la tolérance au glucose.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sp>
        <p:nvSpPr>
          <p:cNvPr id="3" name="Freeform 3"/>
          <p:cNvSpPr/>
          <p:nvPr/>
        </p:nvSpPr>
        <p:spPr>
          <a:xfrm>
            <a:off x="13112453" y="-490557"/>
            <a:ext cx="5929845" cy="11268114"/>
          </a:xfrm>
          <a:custGeom>
            <a:avLst/>
            <a:gdLst/>
            <a:ahLst/>
            <a:cxnLst/>
            <a:rect l="l" t="t" r="r" b="b"/>
            <a:pathLst>
              <a:path w="5929845" h="11268114">
                <a:moveTo>
                  <a:pt x="0" y="0"/>
                </a:moveTo>
                <a:lnTo>
                  <a:pt x="5929845" y="0"/>
                </a:lnTo>
                <a:lnTo>
                  <a:pt x="5929845" y="11268114"/>
                </a:lnTo>
                <a:lnTo>
                  <a:pt x="0" y="112681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4" name="Group 4"/>
          <p:cNvGrpSpPr/>
          <p:nvPr/>
        </p:nvGrpSpPr>
        <p:grpSpPr>
          <a:xfrm>
            <a:off x="10159230" y="1593465"/>
            <a:ext cx="7100070" cy="7100070"/>
            <a:chOff x="0" y="0"/>
            <a:chExt cx="812800" cy="812800"/>
          </a:xfrm>
        </p:grpSpPr>
        <p:sp>
          <p:nvSpPr>
            <p:cNvPr id="5" name="Freeform 5"/>
            <p:cNvSpPr/>
            <p:nvPr/>
          </p:nvSpPr>
          <p:spPr>
            <a:xfrm>
              <a:off x="5872" y="5872"/>
              <a:ext cx="801057" cy="801057"/>
            </a:xfrm>
            <a:custGeom>
              <a:avLst/>
              <a:gdLst/>
              <a:ahLst/>
              <a:cxnLst/>
              <a:rect l="l" t="t" r="r" b="b"/>
              <a:pathLst>
                <a:path w="801057" h="801057">
                  <a:moveTo>
                    <a:pt x="410551" y="4151"/>
                  </a:moveTo>
                  <a:lnTo>
                    <a:pt x="796905" y="390505"/>
                  </a:lnTo>
                  <a:cubicBezTo>
                    <a:pt x="799563" y="393163"/>
                    <a:pt x="801056" y="396768"/>
                    <a:pt x="801056" y="400528"/>
                  </a:cubicBezTo>
                  <a:cubicBezTo>
                    <a:pt x="801056" y="404288"/>
                    <a:pt x="799563" y="407893"/>
                    <a:pt x="796905" y="410551"/>
                  </a:cubicBezTo>
                  <a:lnTo>
                    <a:pt x="410551" y="796905"/>
                  </a:lnTo>
                  <a:cubicBezTo>
                    <a:pt x="407893" y="799563"/>
                    <a:pt x="404288" y="801056"/>
                    <a:pt x="400528" y="801056"/>
                  </a:cubicBezTo>
                  <a:cubicBezTo>
                    <a:pt x="396768" y="801056"/>
                    <a:pt x="393163" y="799563"/>
                    <a:pt x="390505" y="796905"/>
                  </a:cubicBezTo>
                  <a:lnTo>
                    <a:pt x="4151" y="410551"/>
                  </a:lnTo>
                  <a:cubicBezTo>
                    <a:pt x="1493" y="407893"/>
                    <a:pt x="0" y="404288"/>
                    <a:pt x="0" y="400528"/>
                  </a:cubicBezTo>
                  <a:cubicBezTo>
                    <a:pt x="0" y="396768"/>
                    <a:pt x="1493" y="393163"/>
                    <a:pt x="4151" y="390505"/>
                  </a:cubicBezTo>
                  <a:lnTo>
                    <a:pt x="390505" y="4151"/>
                  </a:lnTo>
                  <a:cubicBezTo>
                    <a:pt x="393163" y="1493"/>
                    <a:pt x="396768" y="0"/>
                    <a:pt x="400528" y="0"/>
                  </a:cubicBezTo>
                  <a:cubicBezTo>
                    <a:pt x="404288" y="0"/>
                    <a:pt x="407893" y="1493"/>
                    <a:pt x="410551" y="4151"/>
                  </a:cubicBezTo>
                  <a:close/>
                </a:path>
              </a:pathLst>
            </a:custGeom>
            <a:blipFill>
              <a:blip r:embed="rId5"/>
              <a:stretch>
                <a:fillRect l="-25136" r="-25136"/>
              </a:stretch>
            </a:blipFill>
            <a:ln w="104775" cap="sq">
              <a:solidFill>
                <a:srgbClr val="112E4D"/>
              </a:solidFill>
              <a:prstDash val="solid"/>
              <a:miter/>
            </a:ln>
          </p:spPr>
        </p:sp>
      </p:grpSp>
      <p:sp>
        <p:nvSpPr>
          <p:cNvPr id="6" name="Freeform 6"/>
          <p:cNvSpPr/>
          <p:nvPr/>
        </p:nvSpPr>
        <p:spPr>
          <a:xfrm rot="8100000">
            <a:off x="-248580" y="5885207"/>
            <a:ext cx="3550180" cy="6746186"/>
          </a:xfrm>
          <a:custGeom>
            <a:avLst/>
            <a:gdLst/>
            <a:ahLst/>
            <a:cxnLst/>
            <a:rect l="l" t="t" r="r" b="b"/>
            <a:pathLst>
              <a:path w="3550180" h="6746186">
                <a:moveTo>
                  <a:pt x="0" y="0"/>
                </a:moveTo>
                <a:lnTo>
                  <a:pt x="3550181" y="0"/>
                </a:lnTo>
                <a:lnTo>
                  <a:pt x="3550181" y="6746186"/>
                </a:lnTo>
                <a:lnTo>
                  <a:pt x="0" y="674618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7" name="Freeform 7"/>
          <p:cNvSpPr/>
          <p:nvPr/>
        </p:nvSpPr>
        <p:spPr>
          <a:xfrm>
            <a:off x="9453807" y="1900427"/>
            <a:ext cx="1401265" cy="644582"/>
          </a:xfrm>
          <a:custGeom>
            <a:avLst/>
            <a:gdLst/>
            <a:ahLst/>
            <a:cxnLst/>
            <a:rect l="l" t="t" r="r" b="b"/>
            <a:pathLst>
              <a:path w="1401265" h="644582">
                <a:moveTo>
                  <a:pt x="0" y="0"/>
                </a:moveTo>
                <a:lnTo>
                  <a:pt x="1401264" y="0"/>
                </a:lnTo>
                <a:lnTo>
                  <a:pt x="1401264" y="644582"/>
                </a:lnTo>
                <a:lnTo>
                  <a:pt x="0" y="64458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a:off x="8305164" y="8173224"/>
            <a:ext cx="1364875" cy="1085076"/>
          </a:xfrm>
          <a:custGeom>
            <a:avLst/>
            <a:gdLst/>
            <a:ahLst/>
            <a:cxnLst/>
            <a:rect l="l" t="t" r="r" b="b"/>
            <a:pathLst>
              <a:path w="1364875" h="1085076">
                <a:moveTo>
                  <a:pt x="0" y="0"/>
                </a:moveTo>
                <a:lnTo>
                  <a:pt x="1364875" y="0"/>
                </a:lnTo>
                <a:lnTo>
                  <a:pt x="1364875" y="1085076"/>
                </a:lnTo>
                <a:lnTo>
                  <a:pt x="0" y="1085076"/>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9" name="TextBox 9"/>
          <p:cNvSpPr txBox="1"/>
          <p:nvPr/>
        </p:nvSpPr>
        <p:spPr>
          <a:xfrm>
            <a:off x="619227" y="3873195"/>
            <a:ext cx="9826371" cy="2446020"/>
          </a:xfrm>
          <a:prstGeom prst="rect">
            <a:avLst/>
          </a:prstGeom>
        </p:spPr>
        <p:txBody>
          <a:bodyPr lIns="0" tIns="0" rIns="0" bIns="0" rtlCol="0" anchor="t">
            <a:spAutoFit/>
          </a:bodyPr>
          <a:lstStyle/>
          <a:p>
            <a:pPr algn="l">
              <a:lnSpc>
                <a:spcPts val="18540"/>
              </a:lnSpc>
            </a:pPr>
            <a:r>
              <a:rPr lang="en-US" sz="18000" b="1">
                <a:solidFill>
                  <a:srgbClr val="112E4D"/>
                </a:solidFill>
                <a:latin typeface="Montserrat Heavy"/>
                <a:ea typeface="Montserrat Heavy"/>
                <a:cs typeface="Montserrat Heavy"/>
                <a:sym typeface="Montserrat Heavy"/>
              </a:rPr>
              <a:t>MERCI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1275</Words>
  <Application>Microsoft Office PowerPoint</Application>
  <PresentationFormat>Personnalisé</PresentationFormat>
  <Paragraphs>101</Paragraphs>
  <Slides>13</Slides>
  <Notes>0</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13</vt:i4>
      </vt:variant>
    </vt:vector>
  </HeadingPairs>
  <TitlesOfParts>
    <vt:vector size="22" baseType="lpstr">
      <vt:lpstr>Calibri</vt:lpstr>
      <vt:lpstr>Roboto Bold</vt:lpstr>
      <vt:lpstr>Montserrat Heavy</vt:lpstr>
      <vt:lpstr>Roboto</vt:lpstr>
      <vt:lpstr>Arial</vt:lpstr>
      <vt:lpstr>Montserrat Bold</vt:lpstr>
      <vt:lpstr>Montserrat Semi-Bold</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Thesis Defense Presentation</dc:title>
  <cp:lastModifiedBy>user</cp:lastModifiedBy>
  <cp:revision>4</cp:revision>
  <dcterms:created xsi:type="dcterms:W3CDTF">2006-08-16T00:00:00Z</dcterms:created>
  <dcterms:modified xsi:type="dcterms:W3CDTF">2026-03-29T14:04:46Z</dcterms:modified>
  <dc:identifier>DAHC7ezoSXM</dc:identifier>
</cp:coreProperties>
</file>